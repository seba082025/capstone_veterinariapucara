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hpXicxj8uG16Nh7Cuctf5HuIj9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Nombre de estudiante</a:t>
            </a:r>
            <a:endParaRPr/>
          </a:p>
          <a:p>
            <a:pPr indent="0" lvl="1" marL="457200" rtl="0" algn="l">
              <a:spcBef>
                <a:spcPts val="0"/>
              </a:spcBef>
              <a:spcAft>
                <a:spcPts val="0"/>
              </a:spcAft>
              <a:buNone/>
            </a:pPr>
            <a:r>
              <a:rPr lang="en-US"/>
              <a:t>Cargo</a:t>
            </a:r>
            <a:endParaRPr/>
          </a:p>
          <a:p>
            <a:pPr indent="0" lvl="1" marL="457200" rtl="0" algn="l">
              <a:spcBef>
                <a:spcPts val="0"/>
              </a:spcBef>
              <a:spcAft>
                <a:spcPts val="0"/>
              </a:spcAft>
              <a:buNone/>
            </a:pPr>
            <a:r>
              <a:rPr lang="en-US"/>
              <a:t>Funciones desempeñadas</a:t>
            </a:r>
            <a:endParaRPr/>
          </a:p>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
        <p:nvSpPr>
          <p:cNvPr id="113" name="Google Shape;11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Objetivos del proyecto</a:t>
            </a:r>
            <a:endParaRPr/>
          </a:p>
          <a:p>
            <a:pPr indent="0" lvl="0" marL="0" rtl="0" algn="l">
              <a:spcBef>
                <a:spcPts val="0"/>
              </a:spcBef>
              <a:spcAft>
                <a:spcPts val="0"/>
              </a:spcAft>
              <a:buNone/>
            </a:pPr>
            <a:r>
              <a:rPr lang="en-US"/>
              <a:t>Escribir el Objetivo general</a:t>
            </a:r>
            <a:endParaRPr/>
          </a:p>
          <a:p>
            <a:pPr indent="0" lvl="0" marL="0" rtl="0" algn="l">
              <a:spcBef>
                <a:spcPts val="0"/>
              </a:spcBef>
              <a:spcAft>
                <a:spcPts val="0"/>
              </a:spcAft>
              <a:buNone/>
            </a:pPr>
            <a:r>
              <a:rPr lang="en-US"/>
              <a:t>Listar objetivos específicos</a:t>
            </a:r>
            <a:endParaRPr/>
          </a:p>
          <a:p>
            <a:pPr indent="0" lvl="0" marL="0" rtl="0" algn="l">
              <a:spcBef>
                <a:spcPts val="0"/>
              </a:spcBef>
              <a:spcAft>
                <a:spcPts val="0"/>
              </a:spcAft>
              <a:buNone/>
            </a:pPr>
            <a:r>
              <a:t/>
            </a:r>
            <a:endParaRPr/>
          </a:p>
        </p:txBody>
      </p:sp>
      <p:sp>
        <p:nvSpPr>
          <p:cNvPr id="131" name="Google Shape;13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ppt pude ser opcional propongo que lo digan junto con sus objetivos en pro del tiempo </a:t>
            </a:r>
            <a:endParaRPr/>
          </a:p>
        </p:txBody>
      </p:sp>
      <p:sp>
        <p:nvSpPr>
          <p:cNvPr id="142" name="Google Shape;14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002060"/>
                </a:solidFill>
                <a:latin typeface="Arial"/>
                <a:ea typeface="Arial"/>
                <a:cs typeface="Arial"/>
                <a:sym typeface="Arial"/>
              </a:rPr>
              <a:t>Componentes </a:t>
            </a:r>
            <a:endParaRPr/>
          </a:p>
          <a:p>
            <a:pPr indent="0" lvl="0" marL="0" rtl="0" algn="l">
              <a:spcBef>
                <a:spcPts val="0"/>
              </a:spcBef>
              <a:spcAft>
                <a:spcPts val="0"/>
              </a:spcAft>
              <a:buNone/>
            </a:pPr>
            <a:r>
              <a:rPr lang="en-US" sz="1200">
                <a:solidFill>
                  <a:srgbClr val="002060"/>
                </a:solidFill>
                <a:latin typeface="Arial"/>
                <a:ea typeface="Arial"/>
                <a:cs typeface="Arial"/>
                <a:sym typeface="Arial"/>
              </a:rPr>
              <a:t>Es decir, el resumen de aspectos relevantes . </a:t>
            </a:r>
            <a:endParaRPr/>
          </a:p>
          <a:p>
            <a:pPr indent="0" lvl="0" marL="0" rtl="0" algn="l">
              <a:spcBef>
                <a:spcPts val="0"/>
              </a:spcBef>
              <a:spcAft>
                <a:spcPts val="0"/>
              </a:spcAft>
              <a:buNone/>
            </a:pPr>
            <a:r>
              <a:t/>
            </a:r>
            <a:endParaRPr sz="1200">
              <a:solidFill>
                <a:srgbClr val="002060"/>
              </a:solidFill>
              <a:latin typeface="Arial"/>
              <a:ea typeface="Arial"/>
              <a:cs typeface="Arial"/>
              <a:sym typeface="Arial"/>
            </a:endParaRPr>
          </a:p>
          <a:p>
            <a:pPr indent="0" lvl="0" marL="0" rtl="0" algn="l">
              <a:spcBef>
                <a:spcPts val="0"/>
              </a:spcBef>
              <a:spcAft>
                <a:spcPts val="0"/>
              </a:spcAft>
              <a:buNone/>
            </a:pPr>
            <a:r>
              <a:rPr lang="en-US" sz="1200">
                <a:solidFill>
                  <a:srgbClr val="002060"/>
                </a:solidFill>
                <a:latin typeface="Arial"/>
                <a:ea typeface="Arial"/>
                <a:cs typeface="Arial"/>
                <a:sym typeface="Arial"/>
              </a:rPr>
              <a:t>Esto implica “LISTAR”</a:t>
            </a:r>
            <a:endParaRPr/>
          </a:p>
          <a:p>
            <a:pPr indent="0" lvl="0" marL="0" rtl="0" algn="l">
              <a:spcBef>
                <a:spcPts val="0"/>
              </a:spcBef>
              <a:spcAft>
                <a:spcPts val="0"/>
              </a:spcAft>
              <a:buNone/>
            </a:pPr>
            <a:r>
              <a:rPr lang="en-US" sz="1200">
                <a:solidFill>
                  <a:srgbClr val="002060"/>
                </a:solidFill>
                <a:latin typeface="Arial"/>
                <a:ea typeface="Arial"/>
                <a:cs typeface="Arial"/>
                <a:sym typeface="Arial"/>
              </a:rPr>
              <a:t>Arquitectura, Componentes, Estimaciones de Costo, estudios y otros usado en el estudio, panificación y diseño del proyecto </a:t>
            </a:r>
            <a:endParaRPr/>
          </a:p>
          <a:p>
            <a:pPr indent="0" lvl="0" marL="0" rtl="0" algn="l">
              <a:spcBef>
                <a:spcPts val="0"/>
              </a:spcBef>
              <a:spcAft>
                <a:spcPts val="0"/>
              </a:spcAft>
              <a:buNone/>
            </a:pPr>
            <a:r>
              <a:t/>
            </a:r>
            <a:endParaRPr/>
          </a:p>
        </p:txBody>
      </p:sp>
      <p:sp>
        <p:nvSpPr>
          <p:cNvPr id="153" name="Google Shape;1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3cebdc265_0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a3cebdc265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Describir la o las herramientas de planificación utilizada y su relación con el proyecto.</a:t>
            </a:r>
            <a:endParaRPr/>
          </a:p>
          <a:p>
            <a:pPr indent="0" lvl="0" marL="0" rtl="0" algn="l">
              <a:spcBef>
                <a:spcPts val="0"/>
              </a:spcBef>
              <a:spcAft>
                <a:spcPts val="0"/>
              </a:spcAft>
              <a:buNone/>
            </a:pPr>
            <a:r>
              <a:rPr lang="en-US"/>
              <a:t>Una diapositiva.</a:t>
            </a:r>
            <a:endParaRPr/>
          </a:p>
          <a:p>
            <a:pPr indent="0" lvl="0" marL="0" marR="0" rtl="0" algn="l">
              <a:lnSpc>
                <a:spcPct val="100000"/>
              </a:lnSpc>
              <a:spcBef>
                <a:spcPts val="0"/>
              </a:spcBef>
              <a:spcAft>
                <a:spcPts val="0"/>
              </a:spcAft>
              <a:buClr>
                <a:srgbClr val="747474"/>
              </a:buClr>
              <a:buSzPts val="1200"/>
              <a:buFont typeface="Arial"/>
              <a:buNone/>
            </a:pPr>
            <a:r>
              <a:rPr lang="en-US" sz="1200">
                <a:solidFill>
                  <a:srgbClr val="747474"/>
                </a:solidFill>
              </a:rPr>
              <a:t>Utilizar cronograma de inicio, indicando el cumplimiento al término del proyecto </a:t>
            </a:r>
            <a:endParaRPr sz="800">
              <a:solidFill>
                <a:srgbClr val="747474"/>
              </a:solidFill>
            </a:endParaRPr>
          </a:p>
          <a:p>
            <a:pPr indent="0" lvl="0" marL="0" rtl="0" algn="l">
              <a:spcBef>
                <a:spcPts val="0"/>
              </a:spcBef>
              <a:spcAft>
                <a:spcPts val="0"/>
              </a:spcAft>
              <a:buNone/>
            </a:pPr>
            <a:r>
              <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Describir la o las herramientas de planificación utilizada y su relación con el proyecto.</a:t>
            </a:r>
            <a:endParaRPr/>
          </a:p>
          <a:p>
            <a:pPr indent="0" lvl="0" marL="0" rtl="0" algn="l">
              <a:spcBef>
                <a:spcPts val="0"/>
              </a:spcBef>
              <a:spcAft>
                <a:spcPts val="0"/>
              </a:spcAft>
              <a:buNone/>
            </a:pPr>
            <a:r>
              <a:rPr lang="en-US"/>
              <a:t>Una diapositiva.</a:t>
            </a:r>
            <a:endParaRPr/>
          </a:p>
          <a:p>
            <a:pPr indent="0" lvl="0" marL="0" marR="0" rtl="0" algn="l">
              <a:lnSpc>
                <a:spcPct val="100000"/>
              </a:lnSpc>
              <a:spcBef>
                <a:spcPts val="0"/>
              </a:spcBef>
              <a:spcAft>
                <a:spcPts val="0"/>
              </a:spcAft>
              <a:buClr>
                <a:srgbClr val="747474"/>
              </a:buClr>
              <a:buSzPts val="1200"/>
              <a:buFont typeface="Arial"/>
              <a:buNone/>
            </a:pPr>
            <a:r>
              <a:rPr lang="en-US" sz="1200">
                <a:solidFill>
                  <a:srgbClr val="747474"/>
                </a:solidFill>
              </a:rPr>
              <a:t>Utilizar cronograma de inicio, indicando el cumplimiento al término del proyecto </a:t>
            </a:r>
            <a:endParaRPr sz="800">
              <a:solidFill>
                <a:srgbClr val="747474"/>
              </a:solidFill>
            </a:endParaRPr>
          </a:p>
          <a:p>
            <a:pPr indent="0" lvl="0" marL="0" rtl="0" algn="l">
              <a:spcBef>
                <a:spcPts val="0"/>
              </a:spcBef>
              <a:spcAft>
                <a:spcPts val="0"/>
              </a:spcAft>
              <a:buNone/>
            </a:pPr>
            <a:r>
              <a:t/>
            </a:r>
            <a:endParaRPr/>
          </a:p>
        </p:txBody>
      </p:sp>
      <p:sp>
        <p:nvSpPr>
          <p:cNvPr id="198" name="Google Shape;19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En primer lugar debes considerar que tal como se mencionó anteriormente, la reflexión nos ayuda a ir consolidando nuestras competencias por cuanto somos capaces de situarnos en distintos escenario. En este sentido, se recomienda iniciar la práctica reflexiva con preguntas que te lleven a la comprensión de lo que realizaste y a la relación con otros componentes del centro de práctica en el que te desempeñas, preguntas tales</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como: </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¿Entendí las partes de la tarea que me encargaron y cómo se conectaban?,</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¿entiendo la importancia de esta tarea en el contexto de la empresa?, </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 qué manera esta actividad se relaciona con otras actividades? </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Luego se puede pasar a preguntas más complejas que refieren al análisis y evaluación de lo que se está realizando, con preguntas como</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¿Fueron eficaces las estrategias, habilidades o procedimientos que usé para desarrollar la actividad?  </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¿Qué estoy aprendiendo o. aprendí ?  ¿Por qué es importante?</a:t>
            </a:r>
            <a:endParaRPr/>
          </a:p>
          <a:p>
            <a:pPr indent="0" lvl="0" marL="15875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Finalmente, es importante reflexionar sobre cómo podría mejorar el desempeño, cómo esto aporta a mi perfil profesional, entre otras. Además de analizar cuáles son los espacios de mejora del centro de práctica y cómo desde su rol como especialista puede aportar.</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t/>
            </a:r>
            <a:endParaRPr/>
          </a:p>
        </p:txBody>
      </p:sp>
      <p:sp>
        <p:nvSpPr>
          <p:cNvPr id="311" name="Google Shape;31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sp>
        <p:nvSpPr>
          <p:cNvPr id="18" name="Google Shape;18;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3" name="Shape 23"/>
        <p:cNvGrpSpPr/>
        <p:nvPr/>
      </p:nvGrpSpPr>
      <p:grpSpPr>
        <a:xfrm>
          <a:off x="0" y="0"/>
          <a:ext cx="0" cy="0"/>
          <a:chOff x="0" y="0"/>
          <a:chExt cx="0" cy="0"/>
        </a:xfrm>
      </p:grpSpPr>
      <p:sp>
        <p:nvSpPr>
          <p:cNvPr id="24" name="Google Shape;2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0" name="Shape 30"/>
        <p:cNvGrpSpPr/>
        <p:nvPr/>
      </p:nvGrpSpPr>
      <p:grpSpPr>
        <a:xfrm>
          <a:off x="0" y="0"/>
          <a:ext cx="0" cy="0"/>
          <a:chOff x="0" y="0"/>
          <a:chExt cx="0" cy="0"/>
        </a:xfrm>
      </p:grpSpPr>
      <p:sp>
        <p:nvSpPr>
          <p:cNvPr id="31" name="Google Shape;3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4" name="Shape 34"/>
        <p:cNvGrpSpPr/>
        <p:nvPr/>
      </p:nvGrpSpPr>
      <p:grpSpPr>
        <a:xfrm>
          <a:off x="0" y="0"/>
          <a:ext cx="0" cy="0"/>
          <a:chOff x="0" y="0"/>
          <a:chExt cx="0" cy="0"/>
        </a:xfrm>
      </p:grpSpPr>
      <p:sp>
        <p:nvSpPr>
          <p:cNvPr id="35" name="Google Shape;3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0" name="Shape 40"/>
        <p:cNvGrpSpPr/>
        <p:nvPr/>
      </p:nvGrpSpPr>
      <p:grpSpPr>
        <a:xfrm>
          <a:off x="0" y="0"/>
          <a:ext cx="0" cy="0"/>
          <a:chOff x="0" y="0"/>
          <a:chExt cx="0" cy="0"/>
        </a:xfrm>
      </p:grpSpPr>
      <p:sp>
        <p:nvSpPr>
          <p:cNvPr id="41" name="Google Shape;41;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6" name="Shape 46"/>
        <p:cNvGrpSpPr/>
        <p:nvPr/>
      </p:nvGrpSpPr>
      <p:grpSpPr>
        <a:xfrm>
          <a:off x="0" y="0"/>
          <a:ext cx="0" cy="0"/>
          <a:chOff x="0" y="0"/>
          <a:chExt cx="0" cy="0"/>
        </a:xfrm>
      </p:grpSpPr>
      <p:sp>
        <p:nvSpPr>
          <p:cNvPr id="47" name="Google Shape;47;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5" name="Shape 55"/>
        <p:cNvGrpSpPr/>
        <p:nvPr/>
      </p:nvGrpSpPr>
      <p:grpSpPr>
        <a:xfrm>
          <a:off x="0" y="0"/>
          <a:ext cx="0" cy="0"/>
          <a:chOff x="0" y="0"/>
          <a:chExt cx="0" cy="0"/>
        </a:xfrm>
      </p:grpSpPr>
      <p:sp>
        <p:nvSpPr>
          <p:cNvPr id="56" name="Google Shape;5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0" name="Shape 60"/>
        <p:cNvGrpSpPr/>
        <p:nvPr/>
      </p:nvGrpSpPr>
      <p:grpSpPr>
        <a:xfrm>
          <a:off x="0" y="0"/>
          <a:ext cx="0" cy="0"/>
          <a:chOff x="0" y="0"/>
          <a:chExt cx="0" cy="0"/>
        </a:xfrm>
      </p:grpSpPr>
      <p:sp>
        <p:nvSpPr>
          <p:cNvPr id="61" name="Google Shape;61;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7" name="Shape 67"/>
        <p:cNvGrpSpPr/>
        <p:nvPr/>
      </p:nvGrpSpPr>
      <p:grpSpPr>
        <a:xfrm>
          <a:off x="0" y="0"/>
          <a:ext cx="0" cy="0"/>
          <a:chOff x="0" y="0"/>
          <a:chExt cx="0" cy="0"/>
        </a:xfrm>
      </p:grpSpPr>
      <p:sp>
        <p:nvSpPr>
          <p:cNvPr id="68" name="Google Shape;68;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6"/>
          <p:cNvSpPr/>
          <p:nvPr>
            <p:ph idx="2" type="pic"/>
          </p:nvPr>
        </p:nvSpPr>
        <p:spPr>
          <a:xfrm>
            <a:off x="5183188" y="987425"/>
            <a:ext cx="6172200" cy="4873625"/>
          </a:xfrm>
          <a:prstGeom prst="rect">
            <a:avLst/>
          </a:prstGeom>
          <a:noFill/>
          <a:ln>
            <a:noFill/>
          </a:ln>
        </p:spPr>
      </p:sp>
      <p:sp>
        <p:nvSpPr>
          <p:cNvPr id="70" name="Google Shape;70;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4" name="Shape 74"/>
        <p:cNvGrpSpPr/>
        <p:nvPr/>
      </p:nvGrpSpPr>
      <p:grpSpPr>
        <a:xfrm>
          <a:off x="0" y="0"/>
          <a:ext cx="0" cy="0"/>
          <a:chOff x="0" y="0"/>
          <a:chExt cx="0" cy="0"/>
        </a:xfrm>
      </p:grpSpPr>
      <p:sp>
        <p:nvSpPr>
          <p:cNvPr id="75" name="Google Shape;75;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0" name="Shape 80"/>
        <p:cNvGrpSpPr/>
        <p:nvPr/>
      </p:nvGrpSpPr>
      <p:grpSpPr>
        <a:xfrm>
          <a:off x="0" y="0"/>
          <a:ext cx="0" cy="0"/>
          <a:chOff x="0" y="0"/>
          <a:chExt cx="0" cy="0"/>
        </a:xfrm>
      </p:grpSpPr>
      <p:sp>
        <p:nvSpPr>
          <p:cNvPr id="81" name="Google Shape;81;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6" name="Shape 8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27"/>
          <p:cNvPicPr preferRelativeResize="0"/>
          <p:nvPr/>
        </p:nvPicPr>
        <p:blipFill rotWithShape="1">
          <a:blip r:embed="rId1">
            <a:alphaModFix/>
          </a:blip>
          <a:srcRect b="0" l="0" r="0" t="0"/>
          <a:stretch/>
        </p:blipFill>
        <p:spPr>
          <a:xfrm>
            <a:off x="0" y="125589"/>
            <a:ext cx="1923566" cy="740488"/>
          </a:xfrm>
          <a:prstGeom prst="rect">
            <a:avLst/>
          </a:prstGeom>
          <a:noFill/>
          <a:ln>
            <a:noFill/>
          </a:ln>
        </p:spPr>
      </p:pic>
      <p:pic>
        <p:nvPicPr>
          <p:cNvPr descr="EscuelaIT Duoc UC - Escuela de Informática y Telecomunicaciones Duoc UC - Duoc  UC | LinkedIn" id="16" name="Google Shape;16;p27"/>
          <p:cNvPicPr preferRelativeResize="0"/>
          <p:nvPr/>
        </p:nvPicPr>
        <p:blipFill rotWithShape="1">
          <a:blip r:embed="rId2">
            <a:alphaModFix/>
          </a:blip>
          <a:srcRect b="0" l="0" r="0" t="0"/>
          <a:stretch/>
        </p:blipFill>
        <p:spPr>
          <a:xfrm>
            <a:off x="8833617" y="125589"/>
            <a:ext cx="3141406" cy="7853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8.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hyperlink" Target="http://drive.google.com/file/d/1R_xKRUI6rcXtBb0zqCtQpFhyYJP3TxkY/view" TargetMode="External"/><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 y="1121930"/>
            <a:ext cx="12192000" cy="181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400" u="none" cap="none" strike="noStrike">
                <a:solidFill>
                  <a:schemeClr val="dk1"/>
                </a:solidFill>
                <a:latin typeface="Calibri"/>
                <a:ea typeface="Calibri"/>
                <a:cs typeface="Calibri"/>
                <a:sym typeface="Calibri"/>
              </a:rPr>
              <a:t>PROYECTO “SISTEMA WEB </a:t>
            </a:r>
            <a:r>
              <a:rPr lang="en-US" sz="4400">
                <a:solidFill>
                  <a:schemeClr val="dk1"/>
                </a:solidFill>
                <a:latin typeface="Calibri"/>
                <a:ea typeface="Calibri"/>
                <a:cs typeface="Calibri"/>
                <a:sym typeface="Calibri"/>
              </a:rPr>
              <a:t>CLÍNICA</a:t>
            </a:r>
            <a:r>
              <a:rPr b="0" i="0" lang="en-US" sz="4400" u="none" cap="none" strike="noStrike">
                <a:solidFill>
                  <a:schemeClr val="dk1"/>
                </a:solidFill>
                <a:latin typeface="Calibri"/>
                <a:ea typeface="Calibri"/>
                <a:cs typeface="Calibri"/>
                <a:sym typeface="Calibri"/>
              </a:rPr>
              <a:t> VETERINARIA PUCARA DE SAN BERNARDO”</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PRESENTACIÓN FINAL CAPSTONE</a:t>
            </a:r>
            <a:endParaRPr b="0" i="0" sz="2400" u="none" cap="none" strike="noStrike">
              <a:solidFill>
                <a:schemeClr val="dk1"/>
              </a:solidFill>
              <a:latin typeface="Calibri"/>
              <a:ea typeface="Calibri"/>
              <a:cs typeface="Calibri"/>
              <a:sym typeface="Calibri"/>
            </a:endParaRPr>
          </a:p>
        </p:txBody>
      </p:sp>
      <p:sp>
        <p:nvSpPr>
          <p:cNvPr id="92" name="Google Shape;92;p1"/>
          <p:cNvSpPr txBox="1"/>
          <p:nvPr/>
        </p:nvSpPr>
        <p:spPr>
          <a:xfrm>
            <a:off x="3112377" y="2691923"/>
            <a:ext cx="5967300" cy="4167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n-US" sz="1867" u="none" cap="none" strike="noStrike">
                <a:solidFill>
                  <a:schemeClr val="dk1"/>
                </a:solidFill>
                <a:latin typeface="Calibri"/>
                <a:ea typeface="Calibri"/>
                <a:cs typeface="Calibri"/>
                <a:sym typeface="Calibri"/>
              </a:rPr>
              <a:t>Docente</a:t>
            </a:r>
            <a:endParaRPr b="1"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Marcela Andrea Orellana Silva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n-US" sz="1867" u="none" cap="none" strike="noStrike">
                <a:solidFill>
                  <a:schemeClr val="dk1"/>
                </a:solidFill>
                <a:latin typeface="Calibri"/>
                <a:ea typeface="Calibri"/>
                <a:cs typeface="Calibri"/>
                <a:sym typeface="Calibri"/>
              </a:rPr>
              <a:t>Equipo alumnos</a:t>
            </a:r>
            <a:endParaRPr b="1"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Ignacio Geldres </a:t>
            </a:r>
            <a:r>
              <a:rPr lang="en-US" sz="1867">
                <a:solidFill>
                  <a:schemeClr val="dk1"/>
                </a:solidFill>
                <a:latin typeface="Calibri"/>
                <a:ea typeface="Calibri"/>
                <a:cs typeface="Calibri"/>
                <a:sym typeface="Calibri"/>
              </a:rPr>
              <a:t>Rivera</a:t>
            </a:r>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Sebastián Vásquez Castro</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n-US" sz="1867" u="none" cap="none" strike="noStrike">
                <a:solidFill>
                  <a:schemeClr val="dk1"/>
                </a:solidFill>
                <a:latin typeface="Calibri"/>
                <a:ea typeface="Calibri"/>
                <a:cs typeface="Calibri"/>
                <a:sym typeface="Calibri"/>
              </a:rPr>
              <a:t>Duoc UC Sede San Bernardo </a:t>
            </a:r>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Escuela de Informática y Telecomunicaciones</a:t>
            </a:r>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Ingeniería en Informática</a:t>
            </a:r>
            <a:endParaRPr/>
          </a:p>
          <a:p>
            <a:pPr indent="0" lvl="0" marL="0" marR="0" rtl="0" algn="ctr">
              <a:spcBef>
                <a:spcPts val="0"/>
              </a:spcBef>
              <a:spcAft>
                <a:spcPts val="0"/>
              </a:spcAft>
              <a:buNone/>
            </a:pPr>
            <a:r>
              <a:rPr b="0" i="0" lang="en-US" sz="1867" u="none" cap="none" strike="noStrike">
                <a:solidFill>
                  <a:schemeClr val="dk1"/>
                </a:solidFill>
                <a:latin typeface="Calibri"/>
                <a:ea typeface="Calibri"/>
                <a:cs typeface="Calibri"/>
                <a:sym typeface="Calibri"/>
              </a:rPr>
              <a:t>2025</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933" u="none" cap="none" strike="noStrike">
              <a:solidFill>
                <a:schemeClr val="dk1"/>
              </a:solidFill>
              <a:latin typeface="Calibri"/>
              <a:ea typeface="Calibri"/>
              <a:cs typeface="Calibri"/>
              <a:sym typeface="Calibri"/>
            </a:endParaRPr>
          </a:p>
        </p:txBody>
      </p:sp>
      <p:sp>
        <p:nvSpPr>
          <p:cNvPr id="93" name="Google Shape;93;p1"/>
          <p:cNvSpPr/>
          <p:nvPr/>
        </p:nvSpPr>
        <p:spPr>
          <a:xfrm rot="-5400000">
            <a:off x="6154970" y="671069"/>
            <a:ext cx="151882" cy="12192001"/>
          </a:xfrm>
          <a:custGeom>
            <a:rect b="b" l="l" r="r" t="t"/>
            <a:pathLst>
              <a:path extrusionOk="0" h="5624919" w="587437">
                <a:moveTo>
                  <a:pt x="0" y="0"/>
                </a:moveTo>
                <a:lnTo>
                  <a:pt x="587437" y="0"/>
                </a:lnTo>
                <a:lnTo>
                  <a:pt x="587437" y="5624919"/>
                </a:lnTo>
                <a:lnTo>
                  <a:pt x="0" y="5624919"/>
                </a:lnTo>
                <a:lnTo>
                  <a:pt x="0" y="0"/>
                </a:lnTo>
                <a:close/>
              </a:path>
            </a:pathLst>
          </a:custGeom>
          <a:blipFill rotWithShape="1">
            <a:blip r:embed="rId3">
              <a:alphaModFix/>
            </a:blip>
            <a:stretch>
              <a:fillRect b="-21584" l="-1943447" r="-23081924" t="-34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933">
              <a:solidFill>
                <a:schemeClr val="dk1"/>
              </a:solidFill>
              <a:latin typeface="Calibri"/>
              <a:ea typeface="Calibri"/>
              <a:cs typeface="Calibri"/>
              <a:sym typeface="Calibri"/>
            </a:endParaRPr>
          </a:p>
        </p:txBody>
      </p:sp>
      <p:sp>
        <p:nvSpPr>
          <p:cNvPr id="94" name="Google Shape;94;p1"/>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PROYECTO “SISTEMA WEB CLÍNICA VETERINARIA PUCARA DE SAN BERNARDO”</a:t>
            </a:r>
            <a:endParaRPr/>
          </a:p>
          <a:p>
            <a:pPr indent="0" lvl="0" marL="0" rtl="0" algn="ctr">
              <a:spcBef>
                <a:spcPts val="0"/>
              </a:spcBef>
              <a:spcAft>
                <a:spcPts val="0"/>
              </a:spcAft>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nvSpPr>
        <p:spPr>
          <a:xfrm>
            <a:off x="238327" y="3058616"/>
            <a:ext cx="360896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dk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sp>
        <p:nvSpPr>
          <p:cNvPr id="101" name="Google Shape;101;p2"/>
          <p:cNvSpPr txBox="1"/>
          <p:nvPr>
            <p:ph idx="11" type="ftr"/>
          </p:nvPr>
        </p:nvSpPr>
        <p:spPr>
          <a:xfrm>
            <a:off x="3695382" y="334066"/>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PROYECTO “SISTEMA WEB CLÍNICA VETERINARIA PUCARA DE SAN BERNARDO”</a:t>
            </a:r>
            <a:endParaRPr/>
          </a:p>
          <a:p>
            <a:pPr indent="0" lvl="0" marL="0" rtl="0" algn="ctr">
              <a:spcBef>
                <a:spcPts val="0"/>
              </a:spcBef>
              <a:spcAft>
                <a:spcPts val="0"/>
              </a:spcAft>
              <a:buNone/>
            </a:pPr>
            <a:r>
              <a:t/>
            </a:r>
            <a:endParaRPr/>
          </a:p>
        </p:txBody>
      </p:sp>
      <p:grpSp>
        <p:nvGrpSpPr>
          <p:cNvPr id="102" name="Google Shape;102;p2"/>
          <p:cNvGrpSpPr/>
          <p:nvPr/>
        </p:nvGrpSpPr>
        <p:grpSpPr>
          <a:xfrm>
            <a:off x="4121026" y="1710819"/>
            <a:ext cx="7633617" cy="4349505"/>
            <a:chOff x="0" y="0"/>
            <a:chExt cx="7633617" cy="4349505"/>
          </a:xfrm>
        </p:grpSpPr>
        <p:sp>
          <p:nvSpPr>
            <p:cNvPr id="103" name="Google Shape;103;p2"/>
            <p:cNvSpPr/>
            <p:nvPr/>
          </p:nvSpPr>
          <p:spPr>
            <a:xfrm>
              <a:off x="0" y="0"/>
              <a:ext cx="7633500" cy="20712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txBox="1"/>
            <p:nvPr/>
          </p:nvSpPr>
          <p:spPr>
            <a:xfrm>
              <a:off x="1733817" y="0"/>
              <a:ext cx="5899800" cy="2071200"/>
            </a:xfrm>
            <a:prstGeom prst="rect">
              <a:avLst/>
            </a:prstGeom>
            <a:noFill/>
            <a:ln>
              <a:noFill/>
            </a:ln>
          </p:spPr>
          <p:txBody>
            <a:bodyPr anchorCtr="0" anchor="t" bIns="160000" lIns="160000" spcFirstLastPara="1" rIns="160000" wrap="square" tIns="160000">
              <a:noAutofit/>
            </a:bodyPr>
            <a:lstStyle/>
            <a:p>
              <a:pPr indent="0" lvl="0" marL="0" marR="0" rtl="0" algn="l">
                <a:lnSpc>
                  <a:spcPct val="90000"/>
                </a:lnSpc>
                <a:spcBef>
                  <a:spcPts val="0"/>
                </a:spcBef>
                <a:spcAft>
                  <a:spcPts val="0"/>
                </a:spcAft>
                <a:buClr>
                  <a:schemeClr val="lt1"/>
                </a:buClr>
                <a:buSzPts val="4200"/>
                <a:buFont typeface="Calibri"/>
                <a:buNone/>
              </a:pPr>
              <a:r>
                <a:rPr lang="en-US" sz="4200">
                  <a:solidFill>
                    <a:schemeClr val="lt1"/>
                  </a:solidFill>
                  <a:latin typeface="Calibri"/>
                  <a:ea typeface="Calibri"/>
                  <a:cs typeface="Calibri"/>
                  <a:sym typeface="Calibri"/>
                </a:rPr>
                <a:t>Ignacio Geldres Rivera</a:t>
              </a:r>
              <a:endParaRPr sz="4200">
                <a:solidFill>
                  <a:schemeClr val="lt1"/>
                </a:solidFill>
                <a:latin typeface="Calibri"/>
                <a:ea typeface="Calibri"/>
                <a:cs typeface="Calibri"/>
                <a:sym typeface="Calibri"/>
              </a:endParaRPr>
            </a:p>
            <a:p>
              <a:pPr indent="-285750" lvl="1" marL="285750" marR="0" rtl="0" algn="l">
                <a:lnSpc>
                  <a:spcPct val="90000"/>
                </a:lnSpc>
                <a:spcBef>
                  <a:spcPts val="1470"/>
                </a:spcBef>
                <a:spcAft>
                  <a:spcPts val="0"/>
                </a:spcAft>
                <a:buClr>
                  <a:schemeClr val="lt1"/>
                </a:buClr>
                <a:buSzPts val="3300"/>
                <a:buFont typeface="Calibri"/>
                <a:buChar char="•"/>
              </a:pPr>
              <a:r>
                <a:rPr lang="en-US" sz="3300">
                  <a:solidFill>
                    <a:schemeClr val="lt1"/>
                  </a:solidFill>
                  <a:latin typeface="Calibri"/>
                  <a:ea typeface="Calibri"/>
                  <a:cs typeface="Calibri"/>
                  <a:sym typeface="Calibri"/>
                </a:rPr>
                <a:t>Scrum Master, Developer</a:t>
              </a:r>
              <a:endParaRPr b="0" i="0" sz="3300" u="none" cap="none" strike="noStrike">
                <a:solidFill>
                  <a:schemeClr val="lt1"/>
                </a:solidFill>
                <a:latin typeface="Calibri"/>
                <a:ea typeface="Calibri"/>
                <a:cs typeface="Calibri"/>
                <a:sym typeface="Calibri"/>
              </a:endParaRPr>
            </a:p>
          </p:txBody>
        </p:sp>
        <p:sp>
          <p:nvSpPr>
            <p:cNvPr id="105" name="Google Shape;105;p2"/>
            <p:cNvSpPr/>
            <p:nvPr/>
          </p:nvSpPr>
          <p:spPr>
            <a:xfrm>
              <a:off x="207118" y="207118"/>
              <a:ext cx="1526700" cy="16569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0" y="2278305"/>
              <a:ext cx="7633500" cy="2071200"/>
            </a:xfrm>
            <a:prstGeom prst="roundRect">
              <a:avLst>
                <a:gd fmla="val 10000" name="adj"/>
              </a:avLst>
            </a:prstGeom>
            <a:gradFill>
              <a:gsLst>
                <a:gs pos="0">
                  <a:srgbClr val="6EA5DA"/>
                </a:gs>
                <a:gs pos="50000">
                  <a:srgbClr val="529BDA"/>
                </a:gs>
                <a:gs pos="100000">
                  <a:srgbClr val="4188C8"/>
                </a:gs>
              </a:gsLst>
              <a:lin ang="5400012" scaled="0"/>
            </a:gra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1733817" y="2278305"/>
              <a:ext cx="5899800" cy="2071200"/>
            </a:xfrm>
            <a:prstGeom prst="rect">
              <a:avLst/>
            </a:prstGeom>
            <a:noFill/>
            <a:ln>
              <a:noFill/>
            </a:ln>
          </p:spPr>
          <p:txBody>
            <a:bodyPr anchorCtr="0" anchor="t" bIns="160000" lIns="160000" spcFirstLastPara="1" rIns="160000" wrap="square" tIns="160000">
              <a:noAutofit/>
            </a:bodyPr>
            <a:lstStyle/>
            <a:p>
              <a:pPr indent="0" lvl="0" marL="0" marR="0" rtl="0" algn="l">
                <a:lnSpc>
                  <a:spcPct val="90000"/>
                </a:lnSpc>
                <a:spcBef>
                  <a:spcPts val="0"/>
                </a:spcBef>
                <a:spcAft>
                  <a:spcPts val="0"/>
                </a:spcAft>
                <a:buClr>
                  <a:schemeClr val="lt1"/>
                </a:buClr>
                <a:buSzPts val="4200"/>
                <a:buFont typeface="Calibri"/>
                <a:buNone/>
              </a:pPr>
              <a:r>
                <a:rPr lang="en-US" sz="4200">
                  <a:solidFill>
                    <a:schemeClr val="lt1"/>
                  </a:solidFill>
                  <a:latin typeface="Calibri"/>
                  <a:ea typeface="Calibri"/>
                  <a:cs typeface="Calibri"/>
                  <a:sym typeface="Calibri"/>
                </a:rPr>
                <a:t>Sebastián Vásquez Castro</a:t>
              </a:r>
              <a:endParaRPr sz="4200">
                <a:solidFill>
                  <a:schemeClr val="lt1"/>
                </a:solidFill>
                <a:latin typeface="Calibri"/>
                <a:ea typeface="Calibri"/>
                <a:cs typeface="Calibri"/>
                <a:sym typeface="Calibri"/>
              </a:endParaRPr>
            </a:p>
            <a:p>
              <a:pPr indent="-285750" lvl="1" marL="285750" marR="0" rtl="0" algn="l">
                <a:lnSpc>
                  <a:spcPct val="90000"/>
                </a:lnSpc>
                <a:spcBef>
                  <a:spcPts val="1470"/>
                </a:spcBef>
                <a:spcAft>
                  <a:spcPts val="0"/>
                </a:spcAft>
                <a:buClr>
                  <a:schemeClr val="lt1"/>
                </a:buClr>
                <a:buSzPts val="3300"/>
                <a:buFont typeface="Calibri"/>
                <a:buChar char="•"/>
              </a:pPr>
              <a:r>
                <a:rPr lang="en-US" sz="3300">
                  <a:solidFill>
                    <a:schemeClr val="lt1"/>
                  </a:solidFill>
                  <a:latin typeface="Calibri"/>
                  <a:ea typeface="Calibri"/>
                  <a:cs typeface="Calibri"/>
                  <a:sym typeface="Calibri"/>
                </a:rPr>
                <a:t>Developer</a:t>
              </a:r>
              <a:endParaRPr b="0" i="0" sz="3300" u="none" cap="none" strike="noStrike">
                <a:solidFill>
                  <a:schemeClr val="lt1"/>
                </a:solidFill>
                <a:latin typeface="Calibri"/>
                <a:ea typeface="Calibri"/>
                <a:cs typeface="Calibri"/>
                <a:sym typeface="Calibri"/>
              </a:endParaRPr>
            </a:p>
          </p:txBody>
        </p:sp>
        <p:sp>
          <p:nvSpPr>
            <p:cNvPr id="108" name="Google Shape;108;p2"/>
            <p:cNvSpPr/>
            <p:nvPr/>
          </p:nvSpPr>
          <p:spPr>
            <a:xfrm>
              <a:off x="207118" y="2485423"/>
              <a:ext cx="1526700" cy="1656900"/>
            </a:xfrm>
            <a:prstGeom prst="roundRect">
              <a:avLst>
                <a:gd fmla="val 10000" name="adj"/>
              </a:avLst>
            </a:prstGeom>
            <a:solidFill>
              <a:srgbClr val="C3D4EB"/>
            </a:solidFill>
            <a:ln>
              <a:noFill/>
            </a:ln>
            <a:effectLst>
              <a:outerShdw blurRad="57150" rotWithShape="0" algn="ctr" dir="5400000" dist="19050">
                <a:srgbClr val="000000">
                  <a:alpha val="6275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9" name="Google Shape;109;p2"/>
          <p:cNvPicPr preferRelativeResize="0"/>
          <p:nvPr/>
        </p:nvPicPr>
        <p:blipFill>
          <a:blip r:embed="rId3">
            <a:alphaModFix/>
          </a:blip>
          <a:stretch>
            <a:fillRect/>
          </a:stretch>
        </p:blipFill>
        <p:spPr>
          <a:xfrm>
            <a:off x="4266325" y="1969151"/>
            <a:ext cx="1757200" cy="1757200"/>
          </a:xfrm>
          <a:prstGeom prst="rect">
            <a:avLst/>
          </a:prstGeom>
          <a:noFill/>
          <a:ln>
            <a:noFill/>
          </a:ln>
        </p:spPr>
      </p:pic>
      <p:pic>
        <p:nvPicPr>
          <p:cNvPr id="110" name="Google Shape;110;p2"/>
          <p:cNvPicPr preferRelativeResize="0"/>
          <p:nvPr/>
        </p:nvPicPr>
        <p:blipFill>
          <a:blip r:embed="rId3">
            <a:alphaModFix/>
          </a:blip>
          <a:stretch>
            <a:fillRect/>
          </a:stretch>
        </p:blipFill>
        <p:spPr>
          <a:xfrm>
            <a:off x="4266325" y="4114425"/>
            <a:ext cx="1757200" cy="1757200"/>
          </a:xfrm>
          <a:prstGeom prst="rect">
            <a:avLst/>
          </a:prstGeom>
          <a:noFill/>
          <a:ln>
            <a:noFill/>
          </a:ln>
        </p:spPr>
      </p:pic>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nvSpPr>
        <p:spPr>
          <a:xfrm>
            <a:off x="838200" y="500062"/>
            <a:ext cx="10515600" cy="1325563"/>
          </a:xfrm>
          <a:prstGeom prst="rect">
            <a:avLst/>
          </a:prstGeom>
          <a:noFill/>
          <a:ln>
            <a:noFill/>
          </a:ln>
        </p:spPr>
        <p:txBody>
          <a:bodyPr anchorCtr="0" anchor="ctr" bIns="45700" lIns="91425" spcFirstLastPara="1" rIns="91425" wrap="square" tIns="45700">
            <a:normAutofit/>
          </a:bodyPr>
          <a:lstStyle/>
          <a:p>
            <a:pPr indent="450850" lvl="0" marL="0" marR="0" rtl="0" algn="l">
              <a:lnSpc>
                <a:spcPct val="90000"/>
              </a:lnSpc>
              <a:spcBef>
                <a:spcPts val="0"/>
              </a:spcBef>
              <a:spcAft>
                <a:spcPts val="0"/>
              </a:spcAft>
              <a:buNone/>
            </a:pPr>
            <a:r>
              <a:rPr b="0" i="0" lang="en-US" sz="4400" u="none" cap="none" strike="noStrike">
                <a:solidFill>
                  <a:schemeClr val="dk1"/>
                </a:solidFill>
                <a:latin typeface="Calibri"/>
                <a:ea typeface="Calibri"/>
                <a:cs typeface="Calibri"/>
                <a:sym typeface="Calibri"/>
              </a:rPr>
              <a:t>Definición del Contexto</a:t>
            </a:r>
            <a:endParaRPr b="0" i="0" sz="4400" u="none" cap="none" strike="noStrike">
              <a:solidFill>
                <a:schemeClr val="dk1"/>
              </a:solidFill>
              <a:latin typeface="Calibri"/>
              <a:ea typeface="Calibri"/>
              <a:cs typeface="Calibri"/>
              <a:sym typeface="Calibri"/>
            </a:endParaRPr>
          </a:p>
        </p:txBody>
      </p:sp>
      <p:pic>
        <p:nvPicPr>
          <p:cNvPr descr="Descubre 15 ideas de logos veterinaria y decoracion veterinaria | tienda de  mascotas, veterinaria, peluquería de perros y más" id="116" name="Google Shape;116;p4"/>
          <p:cNvPicPr preferRelativeResize="0"/>
          <p:nvPr/>
        </p:nvPicPr>
        <p:blipFill rotWithShape="1">
          <a:blip r:embed="rId3">
            <a:alphaModFix/>
          </a:blip>
          <a:srcRect b="10503" l="0" r="3" t="2023"/>
          <a:stretch/>
        </p:blipFill>
        <p:spPr>
          <a:xfrm>
            <a:off x="838200" y="1825625"/>
            <a:ext cx="5181600" cy="4351338"/>
          </a:xfrm>
          <a:prstGeom prst="rect">
            <a:avLst/>
          </a:prstGeom>
          <a:solidFill>
            <a:srgbClr val="FFFFFF"/>
          </a:solidFill>
          <a:ln>
            <a:noFill/>
          </a:ln>
        </p:spPr>
      </p:pic>
      <p:sp>
        <p:nvSpPr>
          <p:cNvPr id="117" name="Google Shape;117;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t>El proyecto se desarrolla en la Clínica Veterinaria Pucará, en San Bernardo, donde la falta de una plataforma digital para la gestión de reservas genera ineficiencias. La necesidad es mejorar la experiencia del usuario y optimizar la gestión interna mediante un sistema web que facilite las reservas y la comunicación con los tutores de mascotas.</a:t>
            </a:r>
            <a:endParaRPr sz="2400"/>
          </a:p>
        </p:txBody>
      </p:sp>
      <p:sp>
        <p:nvSpPr>
          <p:cNvPr id="118" name="Google Shape;11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nvSpPr>
        <p:spPr>
          <a:xfrm>
            <a:off x="838200" y="500062"/>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n-US" sz="4400">
                <a:solidFill>
                  <a:schemeClr val="dk1"/>
                </a:solidFill>
                <a:latin typeface="Calibri"/>
                <a:ea typeface="Calibri"/>
                <a:cs typeface="Calibri"/>
                <a:sym typeface="Calibri"/>
              </a:rPr>
              <a:t>Introducción</a:t>
            </a:r>
            <a:endParaRPr sz="4400">
              <a:solidFill>
                <a:schemeClr val="dk1"/>
              </a:solidFill>
              <a:latin typeface="Calibri"/>
              <a:ea typeface="Calibri"/>
              <a:cs typeface="Calibri"/>
              <a:sym typeface="Calibri"/>
            </a:endParaRPr>
          </a:p>
        </p:txBody>
      </p:sp>
      <p:pic>
        <p:nvPicPr>
          <p:cNvPr descr="Diseño PNG Y SVG De Estetoscopio Veterinario Para Camisetas" id="124" name="Google Shape;124;p3"/>
          <p:cNvPicPr preferRelativeResize="0"/>
          <p:nvPr/>
        </p:nvPicPr>
        <p:blipFill rotWithShape="1">
          <a:blip r:embed="rId3">
            <a:alphaModFix/>
          </a:blip>
          <a:srcRect b="0" l="0" r="0" t="0"/>
          <a:stretch/>
        </p:blipFill>
        <p:spPr>
          <a:xfrm>
            <a:off x="1253331" y="1825625"/>
            <a:ext cx="4351338" cy="4351338"/>
          </a:xfrm>
          <a:prstGeom prst="rect">
            <a:avLst/>
          </a:prstGeom>
          <a:noFill/>
          <a:ln>
            <a:noFill/>
          </a:ln>
        </p:spPr>
      </p:pic>
      <p:sp>
        <p:nvSpPr>
          <p:cNvPr id="125" name="Google Shape;125;p3"/>
          <p:cNvSpPr txBox="1"/>
          <p:nvPr/>
        </p:nvSpPr>
        <p:spPr>
          <a:xfrm>
            <a:off x="6172200" y="1825625"/>
            <a:ext cx="5181600" cy="4351338"/>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just">
              <a:lnSpc>
                <a:spcPct val="90000"/>
              </a:lnSpc>
              <a:spcBef>
                <a:spcPts val="0"/>
              </a:spcBef>
              <a:spcAft>
                <a:spcPts val="0"/>
              </a:spcAft>
              <a:buClr>
                <a:schemeClr val="dk1"/>
              </a:buClr>
              <a:buSzPts val="2400"/>
              <a:buFont typeface="Arial"/>
              <a:buChar char="•"/>
            </a:pPr>
            <a:r>
              <a:rPr lang="en-US" sz="2400">
                <a:solidFill>
                  <a:schemeClr val="dk1"/>
                </a:solidFill>
                <a:latin typeface="Calibri"/>
                <a:ea typeface="Calibri"/>
                <a:cs typeface="Calibri"/>
                <a:sym typeface="Calibri"/>
              </a:rPr>
              <a:t>Este proyecto tiene como objetivo desarrollar un sitio web responsive para la Clínica Veterinaria Pucará, mejorando su presencia digital y optimizando la gestión de reservas y la comunicación con los tutores de mascotas. La solución incluye un sistema de reservas en línea, catálogo de servicios, fichas profesionales y un blog educativo, todo accesible desde dispositivos móviles y escritorio, lo que mejora la experiencia del usuario y aumenta la competitividad de la clínica.</a:t>
            </a:r>
            <a:endParaRPr/>
          </a:p>
        </p:txBody>
      </p:sp>
      <p:sp>
        <p:nvSpPr>
          <p:cNvPr id="126" name="Google Shape;1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ctr">
              <a:spcBef>
                <a:spcPts val="0"/>
              </a:spcBef>
              <a:spcAft>
                <a:spcPts val="0"/>
              </a:spcAft>
              <a:buNone/>
            </a:pPr>
            <a:r>
              <a:rPr lang="en-US">
                <a:latin typeface="Calibri"/>
                <a:ea typeface="Calibri"/>
                <a:cs typeface="Calibri"/>
                <a:sym typeface="Calibri"/>
              </a:rPr>
              <a:t>PROYECTO “SISTEMA WEB CLINICA VETERINARIA PUCARA DE SAN BERNARDO”</a:t>
            </a:r>
            <a:endParaRPr/>
          </a:p>
        </p:txBody>
      </p:sp>
      <p:sp>
        <p:nvSpPr>
          <p:cNvPr id="127" name="Google Shape;127;p3"/>
          <p:cNvSpPr txBox="1"/>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marR="0" rtl="0" algn="just">
              <a:lnSpc>
                <a:spcPct val="90000"/>
              </a:lnSpc>
              <a:spcBef>
                <a:spcPts val="1000"/>
              </a:spcBef>
              <a:spcAft>
                <a:spcPts val="0"/>
              </a:spcAft>
              <a:buClr>
                <a:srgbClr val="DE3075"/>
              </a:buClr>
              <a:buSzPts val="28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EscuelaIT Duoc UC - Escuela de Informática y Telecomunicaciones Duoc UC - Duoc  UC | LinkedIn" id="133" name="Google Shape;133;p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4" name="Google Shape;134;p5"/>
          <p:cNvSpPr txBox="1"/>
          <p:nvPr/>
        </p:nvSpPr>
        <p:spPr>
          <a:xfrm>
            <a:off x="0" y="1384304"/>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Objetivo General</a:t>
            </a:r>
            <a:endParaRPr sz="2400">
              <a:solidFill>
                <a:schemeClr val="dk1"/>
              </a:solidFill>
              <a:latin typeface="Calibri"/>
              <a:ea typeface="Calibri"/>
              <a:cs typeface="Calibri"/>
              <a:sym typeface="Calibri"/>
            </a:endParaRPr>
          </a:p>
        </p:txBody>
      </p:sp>
      <p:sp>
        <p:nvSpPr>
          <p:cNvPr id="135" name="Google Shape;135;p5"/>
          <p:cNvSpPr txBox="1"/>
          <p:nvPr/>
        </p:nvSpPr>
        <p:spPr>
          <a:xfrm>
            <a:off x="1" y="4082446"/>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Objetivos Específicos</a:t>
            </a:r>
            <a:endParaRPr sz="2400">
              <a:solidFill>
                <a:schemeClr val="dk1"/>
              </a:solidFill>
              <a:latin typeface="Calibri"/>
              <a:ea typeface="Calibri"/>
              <a:cs typeface="Calibri"/>
              <a:sym typeface="Calibri"/>
            </a:endParaRPr>
          </a:p>
        </p:txBody>
      </p:sp>
      <p:sp>
        <p:nvSpPr>
          <p:cNvPr id="136" name="Google Shape;136;p5"/>
          <p:cNvSpPr/>
          <p:nvPr/>
        </p:nvSpPr>
        <p:spPr>
          <a:xfrm>
            <a:off x="614515" y="2040571"/>
            <a:ext cx="10962967" cy="1575221"/>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Desarrollar un sitio web responsive para la Clínica Veterinaria Pucará, con el fin de optimizar la experiencia del usuario en dispositivos móviles, tabletas y escritorio, incluyendo funcionalidades clave como la agenda de horas online, catálogo de servicios, y comunicación fluida con los tutores de mascotas.</a:t>
            </a:r>
            <a:endParaRPr sz="1800">
              <a:solidFill>
                <a:schemeClr val="dk1"/>
              </a:solidFill>
              <a:latin typeface="Calibri"/>
              <a:ea typeface="Calibri"/>
              <a:cs typeface="Calibri"/>
              <a:sym typeface="Calibri"/>
            </a:endParaRPr>
          </a:p>
        </p:txBody>
      </p:sp>
      <p:sp>
        <p:nvSpPr>
          <p:cNvPr id="137" name="Google Shape;137;p5"/>
          <p:cNvSpPr/>
          <p:nvPr/>
        </p:nvSpPr>
        <p:spPr>
          <a:xfrm>
            <a:off x="614514" y="4732407"/>
            <a:ext cx="10962967" cy="1575221"/>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Crear un sitio web adaptable a móviles, tabletas y escritorios.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Integrar un sistema de reservas en línea fácil de usar.</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Desarrollar un catálogo de servicios y profesionales.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Implementar un blog educativo sobre cuidado de mascotas.</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Agregar integración con Google Maps para ubicar la clínica.</a:t>
            </a:r>
            <a:endParaRPr/>
          </a:p>
          <a:p>
            <a:pPr indent="-285750" lvl="0" marL="285750"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Incluir canales de contacto como WhatsApp.</a:t>
            </a:r>
            <a:endParaRPr sz="1800">
              <a:solidFill>
                <a:schemeClr val="dk1"/>
              </a:solidFill>
              <a:latin typeface="Calibri"/>
              <a:ea typeface="Calibri"/>
              <a:cs typeface="Calibri"/>
              <a:sym typeface="Calibri"/>
            </a:endParaRPr>
          </a:p>
        </p:txBody>
      </p:sp>
      <p:sp>
        <p:nvSpPr>
          <p:cNvPr id="138" name="Google Shape;138;p5"/>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a:t>
            </a:r>
            <a:r>
              <a:rPr lang="en-US"/>
              <a:t>CLÍNICA</a:t>
            </a:r>
            <a:r>
              <a:rPr lang="en-US"/>
              <a:t> VETERINARIA PUCARA DE SAN BERNARDO”</a:t>
            </a:r>
            <a:endParaRPr/>
          </a:p>
        </p:txBody>
      </p:sp>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EscuelaIT Duoc UC - Escuela de Informática y Telecomunicaciones Duoc UC - Duoc  UC | LinkedIn" id="144" name="Google Shape;144;p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45" name="Google Shape;145;p6"/>
          <p:cNvSpPr txBox="1"/>
          <p:nvPr/>
        </p:nvSpPr>
        <p:spPr>
          <a:xfrm>
            <a:off x="1" y="992902"/>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Alcances y limitaciones del proyecto</a:t>
            </a:r>
            <a:endParaRPr/>
          </a:p>
        </p:txBody>
      </p:sp>
      <p:sp>
        <p:nvSpPr>
          <p:cNvPr id="146" name="Google Shape;146;p6"/>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a:t>
            </a:r>
            <a:r>
              <a:rPr lang="en-US"/>
              <a:t>CLÍNICA</a:t>
            </a:r>
            <a:r>
              <a:rPr lang="en-US"/>
              <a:t> VETERINARIA PUCARA DE SAN BERNARDO”</a:t>
            </a:r>
            <a:endParaRPr/>
          </a:p>
        </p:txBody>
      </p:sp>
      <p:sp>
        <p:nvSpPr>
          <p:cNvPr id="147" name="Google Shape;147;p6"/>
          <p:cNvSpPr txBox="1"/>
          <p:nvPr/>
        </p:nvSpPr>
        <p:spPr>
          <a:xfrm>
            <a:off x="707922" y="2078986"/>
            <a:ext cx="4670323"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Alcances: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Desarrollo de un sitio web responsive para la Clínica Veterinaria Pucará, que permita gestionar las reservas de citas, ofrecer información sobre servicios y profesionales, y facilitar la comunicación con los tutores de mascotas.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Integración de funcionalidades clave como agenda online, catálogo de servicios, blog educativo, y canales de contacto.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Implementación de un sistema de gestión de citas en tiempo real, accesible desde dispositivos móviles y escritorio.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Desarrollo de una base de datos local para gestionar los datos de los usuarios y las reservas.</a:t>
            </a:r>
            <a:endParaRPr sz="1800">
              <a:solidFill>
                <a:schemeClr val="dk1"/>
              </a:solidFill>
              <a:latin typeface="Calibri"/>
              <a:ea typeface="Calibri"/>
              <a:cs typeface="Calibri"/>
              <a:sym typeface="Calibri"/>
            </a:endParaRPr>
          </a:p>
        </p:txBody>
      </p:sp>
      <p:sp>
        <p:nvSpPr>
          <p:cNvPr id="148" name="Google Shape;148;p6"/>
          <p:cNvSpPr txBox="1"/>
          <p:nvPr/>
        </p:nvSpPr>
        <p:spPr>
          <a:xfrm>
            <a:off x="5848027" y="2078985"/>
            <a:ext cx="4670323"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Limitaciones: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sistema no se implementará en la nube, lo que limita la escalabilidad futura y el acceso remoto.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sistema dependerá de la infraestructura tecnológica actual de la clínica, sin previsión de nuevas actualizaciones de hardware o software.</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sistema web se desarrollará solo en español, sin incluir otros idiomas.</a:t>
            </a:r>
            <a:endParaRPr/>
          </a:p>
        </p:txBody>
      </p:sp>
      <p:pic>
        <p:nvPicPr>
          <p:cNvPr descr="Qué es la gestión del alcance en proyectos de construcción?" id="149" name="Google Shape;149;p6"/>
          <p:cNvPicPr preferRelativeResize="0"/>
          <p:nvPr/>
        </p:nvPicPr>
        <p:blipFill rotWithShape="1">
          <a:blip r:embed="rId4">
            <a:alphaModFix/>
          </a:blip>
          <a:srcRect b="0" l="0" r="0" t="0"/>
          <a:stretch/>
        </p:blipFill>
        <p:spPr>
          <a:xfrm>
            <a:off x="9153831" y="4870859"/>
            <a:ext cx="2535649" cy="1952585"/>
          </a:xfrm>
          <a:prstGeom prst="rect">
            <a:avLst/>
          </a:prstGeom>
          <a:noFill/>
          <a:ln>
            <a:noFill/>
          </a:ln>
        </p:spPr>
      </p:pic>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n-US" sz="4400">
                <a:solidFill>
                  <a:schemeClr val="dk1"/>
                </a:solidFill>
                <a:latin typeface="Calibri"/>
                <a:ea typeface="Calibri"/>
                <a:cs typeface="Calibri"/>
                <a:sym typeface="Calibri"/>
              </a:rPr>
              <a:t>Propuesta de Solución</a:t>
            </a:r>
            <a:endParaRPr sz="4400">
              <a:solidFill>
                <a:schemeClr val="dk1"/>
              </a:solidFill>
              <a:latin typeface="Calibri"/>
              <a:ea typeface="Calibri"/>
              <a:cs typeface="Calibri"/>
              <a:sym typeface="Calibri"/>
            </a:endParaRPr>
          </a:p>
        </p:txBody>
      </p:sp>
      <p:pic>
        <p:nvPicPr>
          <p:cNvPr descr="Icono de Solución Generic color lineal-color | Freepik" id="156" name="Google Shape;156;p7"/>
          <p:cNvPicPr preferRelativeResize="0"/>
          <p:nvPr/>
        </p:nvPicPr>
        <p:blipFill rotWithShape="1">
          <a:blip r:embed="rId3">
            <a:alphaModFix/>
          </a:blip>
          <a:srcRect b="0" l="0" r="0" t="0"/>
          <a:stretch/>
        </p:blipFill>
        <p:spPr>
          <a:xfrm>
            <a:off x="555240" y="1847850"/>
            <a:ext cx="3483360" cy="3483360"/>
          </a:xfrm>
          <a:prstGeom prst="rect">
            <a:avLst/>
          </a:prstGeom>
          <a:solidFill>
            <a:srgbClr val="FFFFFF"/>
          </a:solidFill>
          <a:ln>
            <a:noFill/>
          </a:ln>
        </p:spPr>
      </p:pic>
      <p:sp>
        <p:nvSpPr>
          <p:cNvPr id="157" name="Google Shape;157;p7"/>
          <p:cNvSpPr txBox="1"/>
          <p:nvPr/>
        </p:nvSpPr>
        <p:spPr>
          <a:xfrm>
            <a:off x="4178711" y="1825625"/>
            <a:ext cx="7175090" cy="4351338"/>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None/>
            </a:pPr>
            <a:r>
              <a:rPr lang="en-US" sz="2200">
                <a:solidFill>
                  <a:schemeClr val="dk1"/>
                </a:solidFill>
                <a:latin typeface="Calibri"/>
                <a:ea typeface="Calibri"/>
                <a:cs typeface="Calibri"/>
                <a:sym typeface="Calibri"/>
              </a:rPr>
              <a:t>La solución propuesta es el desarrollo de un sitio web responsive para la Clínica Veterinaria Pucará, que permita optimizar la experiencia del usuario en dispositivos móviles, tabletas y escritorios. El sistema incluirá las siguientes funcionalidades clave:</a:t>
            </a:r>
            <a:endParaRPr/>
          </a:p>
          <a:p>
            <a:pPr indent="-228600" lvl="0" marL="228600" marR="0" rtl="0" algn="just">
              <a:lnSpc>
                <a:spcPct val="90000"/>
              </a:lnSpc>
              <a:spcBef>
                <a:spcPts val="100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Agenda de reservas online</a:t>
            </a:r>
            <a:endParaRPr/>
          </a:p>
          <a:p>
            <a:pPr indent="-228600" lvl="0" marL="228600" marR="0" rtl="0" algn="just">
              <a:lnSpc>
                <a:spcPct val="90000"/>
              </a:lnSpc>
              <a:spcBef>
                <a:spcPts val="100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Catálogo de servicios</a:t>
            </a:r>
            <a:endParaRPr sz="2200">
              <a:solidFill>
                <a:schemeClr val="dk1"/>
              </a:solidFill>
              <a:latin typeface="Calibri"/>
              <a:ea typeface="Calibri"/>
              <a:cs typeface="Calibri"/>
              <a:sym typeface="Calibri"/>
            </a:endParaRPr>
          </a:p>
          <a:p>
            <a:pPr indent="-228600" lvl="0" marL="228600" marR="0" rtl="0" algn="just">
              <a:lnSpc>
                <a:spcPct val="90000"/>
              </a:lnSpc>
              <a:spcBef>
                <a:spcPts val="100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Panel de administrador</a:t>
            </a:r>
            <a:endParaRPr sz="2200">
              <a:solidFill>
                <a:schemeClr val="dk1"/>
              </a:solidFill>
              <a:latin typeface="Calibri"/>
              <a:ea typeface="Calibri"/>
              <a:cs typeface="Calibri"/>
              <a:sym typeface="Calibri"/>
            </a:endParaRPr>
          </a:p>
          <a:p>
            <a:pPr indent="-228600" lvl="0" marL="228600" marR="0" rtl="0" algn="just">
              <a:lnSpc>
                <a:spcPct val="90000"/>
              </a:lnSpc>
              <a:spcBef>
                <a:spcPts val="100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Blog educativo</a:t>
            </a:r>
            <a:endParaRPr sz="2200">
              <a:solidFill>
                <a:schemeClr val="dk1"/>
              </a:solidFill>
              <a:latin typeface="Calibri"/>
              <a:ea typeface="Calibri"/>
              <a:cs typeface="Calibri"/>
              <a:sym typeface="Calibri"/>
            </a:endParaRPr>
          </a:p>
          <a:p>
            <a:pPr indent="-228600" lvl="0" marL="228600" marR="0" rtl="0" algn="just">
              <a:lnSpc>
                <a:spcPct val="90000"/>
              </a:lnSpc>
              <a:spcBef>
                <a:spcPts val="1000"/>
              </a:spcBef>
              <a:spcAft>
                <a:spcPts val="0"/>
              </a:spcAft>
              <a:buClr>
                <a:schemeClr val="dk1"/>
              </a:buClr>
              <a:buSzPts val="2200"/>
              <a:buFont typeface="Arial"/>
              <a:buChar char="•"/>
            </a:pPr>
            <a:r>
              <a:rPr lang="en-US" sz="2200">
                <a:solidFill>
                  <a:schemeClr val="dk1"/>
                </a:solidFill>
                <a:latin typeface="Calibri"/>
                <a:ea typeface="Calibri"/>
                <a:cs typeface="Calibri"/>
                <a:sym typeface="Calibri"/>
              </a:rPr>
              <a:t>Canales de contacto</a:t>
            </a:r>
            <a:endParaRPr sz="2200">
              <a:solidFill>
                <a:schemeClr val="dk1"/>
              </a:solidFill>
              <a:latin typeface="Calibri"/>
              <a:ea typeface="Calibri"/>
              <a:cs typeface="Calibri"/>
              <a:sym typeface="Calibri"/>
            </a:endParaRPr>
          </a:p>
        </p:txBody>
      </p:sp>
      <p:sp>
        <p:nvSpPr>
          <p:cNvPr id="158" name="Google Shape;15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fontScale="92500" lnSpcReduction="20000"/>
          </a:bodyPr>
          <a:lstStyle/>
          <a:p>
            <a:pPr indent="0" lvl="0" marL="0" rtl="0" algn="ctr">
              <a:spcBef>
                <a:spcPts val="0"/>
              </a:spcBef>
              <a:spcAft>
                <a:spcPts val="0"/>
              </a:spcAft>
              <a:buNone/>
            </a:pPr>
            <a:r>
              <a:rPr lang="en-US">
                <a:latin typeface="Calibri"/>
                <a:ea typeface="Calibri"/>
                <a:cs typeface="Calibri"/>
                <a:sym typeface="Calibri"/>
              </a:rPr>
              <a:t>PROYECTO </a:t>
            </a:r>
            <a:r>
              <a:rPr lang="en-US"/>
              <a:t>“SISTEMA WEB CLINICA VETERINARIA PUCARA DE SAN BERNARDO”</a:t>
            </a:r>
            <a:endParaRPr>
              <a:latin typeface="Calibri"/>
              <a:ea typeface="Calibri"/>
              <a:cs typeface="Calibri"/>
              <a:sym typeface="Calibri"/>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EscuelaIT Duoc UC - Escuela de Informática y Telecomunicaciones Duoc UC - Duoc  UC | LinkedIn" id="163" name="Google Shape;163;p2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64" name="Google Shape;164;p23"/>
          <p:cNvSpPr txBox="1"/>
          <p:nvPr/>
        </p:nvSpPr>
        <p:spPr>
          <a:xfrm>
            <a:off x="0" y="682604"/>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Artefactos</a:t>
            </a:r>
            <a:endParaRPr/>
          </a:p>
        </p:txBody>
      </p:sp>
      <p:sp>
        <p:nvSpPr>
          <p:cNvPr id="165" name="Google Shape;165;p23"/>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“NOMBRE DEL PROYECTO”</a:t>
            </a:r>
            <a:endParaRPr/>
          </a:p>
        </p:txBody>
      </p:sp>
      <p:sp>
        <p:nvSpPr>
          <p:cNvPr id="166" name="Google Shape;166;p23"/>
          <p:cNvSpPr txBox="1"/>
          <p:nvPr/>
        </p:nvSpPr>
        <p:spPr>
          <a:xfrm>
            <a:off x="-4179525" y="992904"/>
            <a:ext cx="121920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400">
                <a:solidFill>
                  <a:schemeClr val="dk1"/>
                </a:solidFill>
                <a:latin typeface="Calibri"/>
                <a:ea typeface="Calibri"/>
                <a:cs typeface="Calibri"/>
                <a:sym typeface="Calibri"/>
              </a:rPr>
              <a:t>AS-IS</a:t>
            </a:r>
            <a:endParaRPr sz="400"/>
          </a:p>
        </p:txBody>
      </p:sp>
      <p:pic>
        <p:nvPicPr>
          <p:cNvPr id="167" name="Google Shape;167;p23"/>
          <p:cNvPicPr preferRelativeResize="0"/>
          <p:nvPr/>
        </p:nvPicPr>
        <p:blipFill>
          <a:blip r:embed="rId4">
            <a:alphaModFix/>
          </a:blip>
          <a:stretch>
            <a:fillRect/>
          </a:stretch>
        </p:blipFill>
        <p:spPr>
          <a:xfrm>
            <a:off x="622275" y="1875250"/>
            <a:ext cx="10947451" cy="4618725"/>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EscuelaIT Duoc UC - Escuela de Informática y Telecomunicaciones Duoc UC - Duoc  UC | LinkedIn" id="172" name="Google Shape;172;g3a3cebdc265_0_3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73" name="Google Shape;173;g3a3cebdc265_0_32"/>
          <p:cNvSpPr txBox="1"/>
          <p:nvPr/>
        </p:nvSpPr>
        <p:spPr>
          <a:xfrm>
            <a:off x="0" y="682604"/>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Artefactos</a:t>
            </a:r>
            <a:endParaRPr/>
          </a:p>
        </p:txBody>
      </p:sp>
      <p:sp>
        <p:nvSpPr>
          <p:cNvPr id="174" name="Google Shape;174;g3a3cebdc265_0_3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“NOMBRE DEL PROYECTO”</a:t>
            </a:r>
            <a:endParaRPr/>
          </a:p>
        </p:txBody>
      </p:sp>
      <p:sp>
        <p:nvSpPr>
          <p:cNvPr id="175" name="Google Shape;175;g3a3cebdc265_0_32"/>
          <p:cNvSpPr txBox="1"/>
          <p:nvPr/>
        </p:nvSpPr>
        <p:spPr>
          <a:xfrm>
            <a:off x="-4179525" y="992904"/>
            <a:ext cx="12192000" cy="615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400">
                <a:solidFill>
                  <a:schemeClr val="dk1"/>
                </a:solidFill>
                <a:latin typeface="Calibri"/>
                <a:ea typeface="Calibri"/>
                <a:cs typeface="Calibri"/>
                <a:sym typeface="Calibri"/>
              </a:rPr>
              <a:t>TO-BE</a:t>
            </a:r>
            <a:endParaRPr sz="400"/>
          </a:p>
        </p:txBody>
      </p:sp>
      <p:pic>
        <p:nvPicPr>
          <p:cNvPr id="176" name="Google Shape;176;g3a3cebdc265_0_32"/>
          <p:cNvPicPr preferRelativeResize="0"/>
          <p:nvPr/>
        </p:nvPicPr>
        <p:blipFill>
          <a:blip r:embed="rId4">
            <a:alphaModFix/>
          </a:blip>
          <a:stretch>
            <a:fillRect/>
          </a:stretch>
        </p:blipFill>
        <p:spPr>
          <a:xfrm>
            <a:off x="752576" y="2051252"/>
            <a:ext cx="10686850" cy="421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EscuelaIT Duoc UC - Escuela de Informática y Telecomunicaciones Duoc UC - Duoc  UC | LinkedIn" id="181" name="Google Shape;181;p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82" name="Google Shape;182;p8"/>
          <p:cNvSpPr txBox="1"/>
          <p:nvPr/>
        </p:nvSpPr>
        <p:spPr>
          <a:xfrm>
            <a:off x="0" y="1432655"/>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Metodología y equipo del proyecto</a:t>
            </a:r>
            <a:endParaRPr sz="2400">
              <a:solidFill>
                <a:schemeClr val="dk1"/>
              </a:solidFill>
              <a:latin typeface="Calibri"/>
              <a:ea typeface="Calibri"/>
              <a:cs typeface="Calibri"/>
              <a:sym typeface="Calibri"/>
            </a:endParaRPr>
          </a:p>
        </p:txBody>
      </p:sp>
      <p:sp>
        <p:nvSpPr>
          <p:cNvPr id="183" name="Google Shape;183;p8"/>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
        <p:nvSpPr>
          <p:cNvPr id="184" name="Google Shape;184;p8"/>
          <p:cNvSpPr txBox="1"/>
          <p:nvPr/>
        </p:nvSpPr>
        <p:spPr>
          <a:xfrm>
            <a:off x="1380702" y="2753032"/>
            <a:ext cx="82353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Para el desarrollo del sitio web de la Clínica Veterinaria Pucará, se utilizó la metodología Scrum, un marco ágil que nos permitió gestionar el proyecto de manera eficiente y adaptable a las necesidades del cliente. Scrum fue clave para organizar el trabajo en ciclos iterativos llamados sprints.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Equipo del proyecto: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Ignacio Geldres (Scrum Master, </a:t>
            </a:r>
            <a:r>
              <a:rPr lang="en-US" sz="1800">
                <a:solidFill>
                  <a:schemeClr val="dk1"/>
                </a:solidFill>
                <a:latin typeface="Calibri"/>
                <a:ea typeface="Calibri"/>
                <a:cs typeface="Calibri"/>
                <a:sym typeface="Calibri"/>
              </a:rPr>
              <a:t>Developer</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Sebastián Vásquez (</a:t>
            </a:r>
            <a:r>
              <a:rPr lang="en-US" sz="1800">
                <a:solidFill>
                  <a:schemeClr val="dk1"/>
                </a:solidFill>
                <a:latin typeface="Calibri"/>
                <a:ea typeface="Calibri"/>
                <a:cs typeface="Calibri"/>
                <a:sym typeface="Calibri"/>
              </a:rPr>
              <a:t>Developer</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pic>
        <p:nvPicPr>
          <p:cNvPr descr="Todo sobre Scrum — SCRUM MÉXICO" id="185" name="Google Shape;185;p8"/>
          <p:cNvPicPr preferRelativeResize="0"/>
          <p:nvPr/>
        </p:nvPicPr>
        <p:blipFill rotWithShape="1">
          <a:blip r:embed="rId4">
            <a:alphaModFix/>
          </a:blip>
          <a:srcRect b="0" l="0" r="0" t="0"/>
          <a:stretch/>
        </p:blipFill>
        <p:spPr>
          <a:xfrm>
            <a:off x="7710949" y="4035270"/>
            <a:ext cx="2445774" cy="2445774"/>
          </a:xfrm>
          <a:prstGeom prst="rect">
            <a:avLst/>
          </a:prstGeom>
          <a:noFill/>
          <a:ln>
            <a:noFill/>
          </a:ln>
        </p:spPr>
      </p:pic>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EscuelaIT Duoc UC - Escuela de Informática y Telecomunicaciones Duoc UC - Duoc  UC | LinkedIn" id="191" name="Google Shape;191;p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92" name="Google Shape;192;p9"/>
          <p:cNvSpPr txBox="1"/>
          <p:nvPr/>
        </p:nvSpPr>
        <p:spPr>
          <a:xfrm>
            <a:off x="1" y="1155656"/>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Planificación o Cronograma del proyecto o Sprints</a:t>
            </a:r>
            <a:endParaRPr sz="4400">
              <a:solidFill>
                <a:schemeClr val="dk1"/>
              </a:solidFill>
              <a:latin typeface="Calibri"/>
              <a:ea typeface="Calibri"/>
              <a:cs typeface="Calibri"/>
              <a:sym typeface="Calibri"/>
            </a:endParaRPr>
          </a:p>
        </p:txBody>
      </p:sp>
      <p:sp>
        <p:nvSpPr>
          <p:cNvPr id="193" name="Google Shape;193;p9"/>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pic>
        <p:nvPicPr>
          <p:cNvPr id="194" name="Google Shape;194;p9"/>
          <p:cNvPicPr preferRelativeResize="0"/>
          <p:nvPr/>
        </p:nvPicPr>
        <p:blipFill rotWithShape="1">
          <a:blip r:embed="rId4">
            <a:alphaModFix/>
          </a:blip>
          <a:srcRect b="0" l="0" r="0" t="0"/>
          <a:stretch/>
        </p:blipFill>
        <p:spPr>
          <a:xfrm>
            <a:off x="697304" y="1977120"/>
            <a:ext cx="10822150" cy="4469500"/>
          </a:xfrm>
          <a:prstGeom prst="rect">
            <a:avLst/>
          </a:prstGeom>
          <a:noFill/>
          <a:ln>
            <a:noFill/>
          </a:ln>
        </p:spPr>
      </p:pic>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descr="EscuelaIT Duoc UC - Escuela de Informática y Telecomunicaciones Duoc UC - Duoc  UC | LinkedIn" id="200" name="Google Shape;200;p1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1" name="Google Shape;201;p10"/>
          <p:cNvSpPr txBox="1"/>
          <p:nvPr/>
        </p:nvSpPr>
        <p:spPr>
          <a:xfrm>
            <a:off x="1" y="1155656"/>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Planificación o Cronograma del proyecto o Sprints</a:t>
            </a:r>
            <a:endParaRPr sz="4400">
              <a:solidFill>
                <a:schemeClr val="dk1"/>
              </a:solidFill>
              <a:latin typeface="Calibri"/>
              <a:ea typeface="Calibri"/>
              <a:cs typeface="Calibri"/>
              <a:sym typeface="Calibri"/>
            </a:endParaRPr>
          </a:p>
        </p:txBody>
      </p:sp>
      <p:sp>
        <p:nvSpPr>
          <p:cNvPr id="202" name="Google Shape;202;p10"/>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pic>
        <p:nvPicPr>
          <p:cNvPr id="203" name="Google Shape;203;p10"/>
          <p:cNvPicPr preferRelativeResize="0"/>
          <p:nvPr/>
        </p:nvPicPr>
        <p:blipFill rotWithShape="1">
          <a:blip r:embed="rId4">
            <a:alphaModFix/>
          </a:blip>
          <a:srcRect b="0" l="0" r="0" t="0"/>
          <a:stretch/>
        </p:blipFill>
        <p:spPr>
          <a:xfrm>
            <a:off x="904782" y="2068952"/>
            <a:ext cx="10382435" cy="4292628"/>
          </a:xfrm>
          <a:prstGeom prst="rect">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EscuelaIT Duoc UC - Escuela de Informática y Telecomunicaciones Duoc UC - Duoc  UC | LinkedIn" id="208" name="Google Shape;208;p1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9" name="Google Shape;209;p11"/>
          <p:cNvSpPr txBox="1"/>
          <p:nvPr/>
        </p:nvSpPr>
        <p:spPr>
          <a:xfrm>
            <a:off x="-717755" y="748911"/>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Arquitectura  y Tecnologías del Proyecto </a:t>
            </a:r>
            <a:endParaRPr/>
          </a:p>
        </p:txBody>
      </p:sp>
      <p:sp>
        <p:nvSpPr>
          <p:cNvPr id="210" name="Google Shape;210;p11"/>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pic>
        <p:nvPicPr>
          <p:cNvPr id="211" name="Google Shape;211;p11"/>
          <p:cNvPicPr preferRelativeResize="0"/>
          <p:nvPr/>
        </p:nvPicPr>
        <p:blipFill rotWithShape="1">
          <a:blip r:embed="rId4">
            <a:alphaModFix/>
          </a:blip>
          <a:srcRect b="0" l="0" r="0" t="0"/>
          <a:stretch/>
        </p:blipFill>
        <p:spPr>
          <a:xfrm>
            <a:off x="6061227" y="2870315"/>
            <a:ext cx="1844200" cy="3391194"/>
          </a:xfrm>
          <a:prstGeom prst="rect">
            <a:avLst/>
          </a:prstGeom>
          <a:noFill/>
          <a:ln>
            <a:noFill/>
          </a:ln>
        </p:spPr>
      </p:pic>
      <p:pic>
        <p:nvPicPr>
          <p:cNvPr id="212" name="Google Shape;212;p11"/>
          <p:cNvPicPr preferRelativeResize="0"/>
          <p:nvPr/>
        </p:nvPicPr>
        <p:blipFill rotWithShape="1">
          <a:blip r:embed="rId5">
            <a:alphaModFix/>
          </a:blip>
          <a:srcRect b="0" l="0" r="0" t="0"/>
          <a:stretch/>
        </p:blipFill>
        <p:spPr>
          <a:xfrm>
            <a:off x="7629641" y="1518352"/>
            <a:ext cx="2107904" cy="1731805"/>
          </a:xfrm>
          <a:prstGeom prst="rect">
            <a:avLst/>
          </a:prstGeom>
          <a:noFill/>
          <a:ln>
            <a:noFill/>
          </a:ln>
        </p:spPr>
      </p:pic>
      <p:pic>
        <p:nvPicPr>
          <p:cNvPr id="213" name="Google Shape;213;p11"/>
          <p:cNvPicPr preferRelativeResize="0"/>
          <p:nvPr/>
        </p:nvPicPr>
        <p:blipFill rotWithShape="1">
          <a:blip r:embed="rId6">
            <a:alphaModFix/>
          </a:blip>
          <a:srcRect b="0" l="0" r="0" t="0"/>
          <a:stretch/>
        </p:blipFill>
        <p:spPr>
          <a:xfrm>
            <a:off x="10199824" y="4923235"/>
            <a:ext cx="1143160" cy="1247949"/>
          </a:xfrm>
          <a:prstGeom prst="rect">
            <a:avLst/>
          </a:prstGeom>
          <a:noFill/>
          <a:ln>
            <a:noFill/>
          </a:ln>
        </p:spPr>
      </p:pic>
      <p:pic>
        <p:nvPicPr>
          <p:cNvPr id="214" name="Google Shape;214;p11"/>
          <p:cNvPicPr preferRelativeResize="0"/>
          <p:nvPr/>
        </p:nvPicPr>
        <p:blipFill rotWithShape="1">
          <a:blip r:embed="rId7">
            <a:alphaModFix/>
          </a:blip>
          <a:srcRect b="0" l="0" r="0" t="0"/>
          <a:stretch/>
        </p:blipFill>
        <p:spPr>
          <a:xfrm>
            <a:off x="9547599" y="2989390"/>
            <a:ext cx="2286319" cy="1933845"/>
          </a:xfrm>
          <a:prstGeom prst="rect">
            <a:avLst/>
          </a:prstGeom>
          <a:noFill/>
          <a:ln>
            <a:noFill/>
          </a:ln>
        </p:spPr>
      </p:pic>
      <p:sp>
        <p:nvSpPr>
          <p:cNvPr id="215" name="Google Shape;215;p11"/>
          <p:cNvSpPr txBox="1"/>
          <p:nvPr/>
        </p:nvSpPr>
        <p:spPr>
          <a:xfrm>
            <a:off x="513411" y="1773358"/>
            <a:ext cx="5680800" cy="341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La arquitectura del sistema está compuesta por tres componentes principales: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 Frontend:  Ionic Framework, Angular y Tecnología web con Html, CSS y TypeScript.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Backend: Node.JS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 Base de datos: Oracle XE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Otras tecnologías con integración fueron Google Maps y WhatsApp.</a:t>
            </a:r>
            <a:endParaRPr sz="1800">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EscuelaIT Duoc UC - Escuela de Informática y Telecomunicaciones Duoc UC - Duoc  UC | LinkedIn" id="220" name="Google Shape;220;p1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1" name="Google Shape;221;p12"/>
          <p:cNvSpPr txBox="1"/>
          <p:nvPr/>
        </p:nvSpPr>
        <p:spPr>
          <a:xfrm>
            <a:off x="1" y="101669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Modelo de Datos</a:t>
            </a:r>
            <a:endParaRPr/>
          </a:p>
        </p:txBody>
      </p:sp>
      <p:sp>
        <p:nvSpPr>
          <p:cNvPr id="222" name="Google Shape;222;p12"/>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
        <p:nvSpPr>
          <p:cNvPr id="223" name="Google Shape;223;p12"/>
          <p:cNvSpPr txBox="1"/>
          <p:nvPr/>
        </p:nvSpPr>
        <p:spPr>
          <a:xfrm>
            <a:off x="658761" y="2059321"/>
            <a:ext cx="860322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Tablas principales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Citas: Información de reservas.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Clientes: Datos del tutor de mascotas.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Profesionales: Información de veterinarios.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Servicios: Catálogo de servicios ofrecidos.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Artículos: Posibles productos que ofrece la clínica.</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Mascotas: Datos sobre las mascotas atendidas, vinculados a los clientes.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Contactos: Información de contacto adicional.</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Relaciones</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Clientes ↔ Citas: Un cliente puede tener múltiples citas.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Citas ↔ Servicios: Cada cita puede incluir varios servicios.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Citas ↔ Profesionales: Cada cita es gestionada por un profesional específico.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Clientes ↔ Mascotas: Un cliente puede tener múltiples mascotas.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Artículos ↔ Servicios: Algunos servicios pueden estar vinculados a la venta de productos.</a:t>
            </a:r>
            <a:endParaRPr/>
          </a:p>
        </p:txBody>
      </p:sp>
      <p:pic>
        <p:nvPicPr>
          <p:cNvPr descr="Texto&#10;&#10;El contenido generado por IA puede ser incorrecto." id="224" name="Google Shape;224;p12"/>
          <p:cNvPicPr preferRelativeResize="0"/>
          <p:nvPr/>
        </p:nvPicPr>
        <p:blipFill rotWithShape="1">
          <a:blip r:embed="rId4">
            <a:alphaModFix/>
          </a:blip>
          <a:srcRect b="0" l="0" r="0" t="0"/>
          <a:stretch/>
        </p:blipFill>
        <p:spPr>
          <a:xfrm>
            <a:off x="8642642" y="2605548"/>
            <a:ext cx="3400425" cy="2389239"/>
          </a:xfrm>
          <a:prstGeom prst="rect">
            <a:avLst/>
          </a:prstGeom>
          <a:noFill/>
          <a:ln>
            <a:noFill/>
          </a:ln>
        </p:spPr>
      </p:pic>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EscuelaIT Duoc UC - Escuela de Informática y Telecomunicaciones Duoc UC - Duoc  UC | LinkedIn" id="229" name="Google Shape;229;p1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30" name="Google Shape;230;p13"/>
          <p:cNvSpPr txBox="1"/>
          <p:nvPr/>
        </p:nvSpPr>
        <p:spPr>
          <a:xfrm>
            <a:off x="0" y="1432655"/>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Resultados del Proyecto</a:t>
            </a:r>
            <a:endParaRPr/>
          </a:p>
        </p:txBody>
      </p:sp>
      <p:sp>
        <p:nvSpPr>
          <p:cNvPr id="231" name="Google Shape;231;p13"/>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a:t>
            </a:r>
            <a:r>
              <a:rPr lang="en-US"/>
              <a:t>CLÍNICA</a:t>
            </a:r>
            <a:r>
              <a:rPr lang="en-US"/>
              <a:t> VETERINARIA PUCARA DE SAN BERNARDO”</a:t>
            </a:r>
            <a:endParaRPr/>
          </a:p>
        </p:txBody>
      </p:sp>
      <p:sp>
        <p:nvSpPr>
          <p:cNvPr id="232" name="Google Shape;232;p13"/>
          <p:cNvSpPr txBox="1"/>
          <p:nvPr/>
        </p:nvSpPr>
        <p:spPr>
          <a:xfrm>
            <a:off x="1199535" y="2690336"/>
            <a:ext cx="9537291"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El proyecto resultó en el desarrollo de un </a:t>
            </a:r>
            <a:r>
              <a:rPr b="1" lang="en-US" sz="1800">
                <a:solidFill>
                  <a:schemeClr val="dk1"/>
                </a:solidFill>
                <a:latin typeface="Calibri"/>
                <a:ea typeface="Calibri"/>
                <a:cs typeface="Calibri"/>
                <a:sym typeface="Calibri"/>
              </a:rPr>
              <a:t>sitio web responsivo para la Clínica Veterinaria Pucará</a:t>
            </a:r>
            <a:r>
              <a:rPr lang="en-US" sz="1800">
                <a:solidFill>
                  <a:schemeClr val="dk1"/>
                </a:solidFill>
                <a:latin typeface="Calibri"/>
                <a:ea typeface="Calibri"/>
                <a:cs typeface="Calibri"/>
                <a:sym typeface="Calibri"/>
              </a:rPr>
              <a:t>, con un </a:t>
            </a:r>
            <a:r>
              <a:rPr b="1" lang="en-US" sz="1800">
                <a:solidFill>
                  <a:schemeClr val="dk1"/>
                </a:solidFill>
                <a:latin typeface="Calibri"/>
                <a:ea typeface="Calibri"/>
                <a:cs typeface="Calibri"/>
                <a:sym typeface="Calibri"/>
              </a:rPr>
              <a:t>sistema de reserva de citas</a:t>
            </a:r>
            <a:r>
              <a:rPr lang="en-US" sz="1800">
                <a:solidFill>
                  <a:schemeClr val="dk1"/>
                </a:solidFill>
                <a:latin typeface="Calibri"/>
                <a:ea typeface="Calibri"/>
                <a:cs typeface="Calibri"/>
                <a:sym typeface="Calibri"/>
              </a:rPr>
              <a:t> en línea, </a:t>
            </a:r>
            <a:r>
              <a:rPr b="1" lang="en-US" sz="1800">
                <a:solidFill>
                  <a:schemeClr val="dk1"/>
                </a:solidFill>
                <a:latin typeface="Calibri"/>
                <a:ea typeface="Calibri"/>
                <a:cs typeface="Calibri"/>
                <a:sym typeface="Calibri"/>
              </a:rPr>
              <a:t>catálogo de servicios</a:t>
            </a:r>
            <a:r>
              <a:rPr lang="en-US" sz="1800">
                <a:solidFill>
                  <a:schemeClr val="dk1"/>
                </a:solidFill>
                <a:latin typeface="Calibri"/>
                <a:ea typeface="Calibri"/>
                <a:cs typeface="Calibri"/>
                <a:sym typeface="Calibri"/>
              </a:rPr>
              <a:t>. Se implementó un </a:t>
            </a:r>
            <a:r>
              <a:rPr b="1" lang="en-US" sz="1800">
                <a:solidFill>
                  <a:schemeClr val="dk1"/>
                </a:solidFill>
                <a:latin typeface="Calibri"/>
                <a:ea typeface="Calibri"/>
                <a:cs typeface="Calibri"/>
                <a:sym typeface="Calibri"/>
              </a:rPr>
              <a:t>blog educativo</a:t>
            </a:r>
            <a:r>
              <a:rPr lang="en-US" sz="1800">
                <a:solidFill>
                  <a:schemeClr val="dk1"/>
                </a:solidFill>
                <a:latin typeface="Calibri"/>
                <a:ea typeface="Calibri"/>
                <a:cs typeface="Calibri"/>
                <a:sym typeface="Calibri"/>
              </a:rPr>
              <a:t>, canales de </a:t>
            </a:r>
            <a:r>
              <a:rPr b="1" lang="en-US" sz="1800">
                <a:solidFill>
                  <a:schemeClr val="dk1"/>
                </a:solidFill>
                <a:latin typeface="Calibri"/>
                <a:ea typeface="Calibri"/>
                <a:cs typeface="Calibri"/>
                <a:sym typeface="Calibri"/>
              </a:rPr>
              <a:t>contacto directo como WhatsApp</a:t>
            </a:r>
            <a:r>
              <a:rPr lang="en-US" sz="1800">
                <a:solidFill>
                  <a:schemeClr val="dk1"/>
                </a:solidFill>
                <a:latin typeface="Calibri"/>
                <a:ea typeface="Calibri"/>
                <a:cs typeface="Calibri"/>
                <a:sym typeface="Calibri"/>
              </a:rPr>
              <a:t>, y una </a:t>
            </a:r>
            <a:r>
              <a:rPr b="1" lang="en-US" sz="1800">
                <a:solidFill>
                  <a:schemeClr val="dk1"/>
                </a:solidFill>
                <a:latin typeface="Calibri"/>
                <a:ea typeface="Calibri"/>
                <a:cs typeface="Calibri"/>
                <a:sym typeface="Calibri"/>
              </a:rPr>
              <a:t>integración con Google Maps</a:t>
            </a:r>
            <a:r>
              <a:rPr lang="en-US" sz="1800">
                <a:solidFill>
                  <a:schemeClr val="dk1"/>
                </a:solidFill>
                <a:latin typeface="Calibri"/>
                <a:ea typeface="Calibri"/>
                <a:cs typeface="Calibri"/>
                <a:sym typeface="Calibri"/>
              </a:rPr>
              <a:t> para facilitar la localización. Además, se creó un panel de administración autogestionable para la clínica, mejorando la eficiencia y la experiencia del usuario.</a:t>
            </a:r>
            <a:endParaRPr sz="1800">
              <a:solidFill>
                <a:schemeClr val="dk1"/>
              </a:solidFill>
              <a:latin typeface="Calibri"/>
              <a:ea typeface="Calibri"/>
              <a:cs typeface="Calibri"/>
              <a:sym typeface="Calibri"/>
            </a:endParaRPr>
          </a:p>
        </p:txBody>
      </p:sp>
      <p:pic>
        <p:nvPicPr>
          <p:cNvPr descr="Resultados - Iconos gratis de negocios y finanzas" id="233" name="Google Shape;233;p13"/>
          <p:cNvPicPr preferRelativeResize="0"/>
          <p:nvPr/>
        </p:nvPicPr>
        <p:blipFill rotWithShape="1">
          <a:blip r:embed="rId4">
            <a:alphaModFix/>
          </a:blip>
          <a:srcRect b="0" l="0" r="0" t="0"/>
          <a:stretch/>
        </p:blipFill>
        <p:spPr>
          <a:xfrm>
            <a:off x="8595852" y="4354858"/>
            <a:ext cx="2140974" cy="2140974"/>
          </a:xfrm>
          <a:prstGeom prst="rect">
            <a:avLst/>
          </a:prstGeom>
          <a:noFill/>
          <a:ln>
            <a:noFill/>
          </a:ln>
        </p:spPr>
      </p:pic>
      <p:pic>
        <p:nvPicPr>
          <p:cNvPr descr="Resultados - Iconos gratis de márketing" id="234" name="Google Shape;234;p13"/>
          <p:cNvPicPr preferRelativeResize="0"/>
          <p:nvPr/>
        </p:nvPicPr>
        <p:blipFill rotWithShape="1">
          <a:blip r:embed="rId5">
            <a:alphaModFix/>
          </a:blip>
          <a:srcRect b="0" l="0" r="0" t="0"/>
          <a:stretch/>
        </p:blipFill>
        <p:spPr>
          <a:xfrm>
            <a:off x="1299103" y="4688774"/>
            <a:ext cx="1699736" cy="1699736"/>
          </a:xfrm>
          <a:prstGeom prst="rect">
            <a:avLst/>
          </a:prstGeom>
          <a:noFill/>
          <a:ln>
            <a:noFill/>
          </a:ln>
        </p:spPr>
      </p:pic>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EscuelaIT Duoc UC - Escuela de Informática y Telecomunicaciones Duoc UC - Duoc  UC | LinkedIn" id="239" name="Google Shape;239;p1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0" name="Google Shape;240;p14"/>
          <p:cNvSpPr txBox="1"/>
          <p:nvPr/>
        </p:nvSpPr>
        <p:spPr>
          <a:xfrm>
            <a:off x="0" y="992902"/>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Demostración del Proyecto</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241" name="Google Shape;241;p14"/>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a:t>
            </a:r>
            <a:r>
              <a:rPr lang="en-US"/>
              <a:t>CLÍNICA</a:t>
            </a:r>
            <a:r>
              <a:rPr lang="en-US"/>
              <a:t> VETERINARIA PUCARA DE SAN BERNARDO”</a:t>
            </a:r>
            <a:endParaRPr/>
          </a:p>
        </p:txBody>
      </p:sp>
      <p:pic>
        <p:nvPicPr>
          <p:cNvPr id="242" name="Google Shape;242;p14" title="2025-11-28 17-22-18.mp4">
            <a:hlinkClick r:id="rId4"/>
          </p:cNvPr>
          <p:cNvPicPr preferRelativeResize="0"/>
          <p:nvPr/>
        </p:nvPicPr>
        <p:blipFill>
          <a:blip r:embed="rId5">
            <a:alphaModFix/>
          </a:blip>
          <a:stretch>
            <a:fillRect/>
          </a:stretch>
        </p:blipFill>
        <p:spPr>
          <a:xfrm>
            <a:off x="786762" y="1983450"/>
            <a:ext cx="10618475" cy="4298006"/>
          </a:xfrm>
          <a:prstGeom prst="rect">
            <a:avLst/>
          </a:prstGeom>
          <a:noFill/>
          <a:ln>
            <a:noFill/>
          </a:ln>
        </p:spPr>
      </p:pic>
    </p:spTree>
  </p:cSld>
  <p:clrMapOvr>
    <a:masterClrMapping/>
  </p:clrMapOvr>
  <p:transition spd="slow">
    <p:wipe dir="l"/>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descr="EscuelaIT Duoc UC - Escuela de Informática y Telecomunicaciones Duoc UC - Duoc  UC | LinkedIn" id="247" name="Google Shape;247;p2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8" name="Google Shape;248;p26"/>
          <p:cNvSpPr txBox="1"/>
          <p:nvPr/>
        </p:nvSpPr>
        <p:spPr>
          <a:xfrm>
            <a:off x="2168402" y="821629"/>
            <a:ext cx="12192000" cy="1508400"/>
          </a:xfrm>
          <a:prstGeom prst="rect">
            <a:avLst/>
          </a:prstGeom>
          <a:noFill/>
          <a:ln>
            <a:noFill/>
          </a:ln>
        </p:spPr>
        <p:txBody>
          <a:bodyPr anchorCtr="0" anchor="t" bIns="45700" lIns="91425" spcFirstLastPara="1" rIns="91425" wrap="square" tIns="45700">
            <a:spAutoFit/>
          </a:bodyPr>
          <a:lstStyle/>
          <a:p>
            <a:pPr indent="0" lvl="0" marL="0" marR="0" rtl="0" algn="l">
              <a:lnSpc>
                <a:spcPct val="109068"/>
              </a:lnSpc>
              <a:spcBef>
                <a:spcPts val="0"/>
              </a:spcBef>
              <a:spcAft>
                <a:spcPts val="0"/>
              </a:spcAft>
              <a:buNone/>
            </a:pPr>
            <a:r>
              <a:rPr b="1" lang="en-US" sz="4400">
                <a:solidFill>
                  <a:srgbClr val="252525"/>
                </a:solidFill>
                <a:latin typeface="Arial"/>
                <a:ea typeface="Arial"/>
                <a:cs typeface="Arial"/>
                <a:sym typeface="Arial"/>
              </a:rPr>
              <a:t>APORTES Y BENEFICIOS</a:t>
            </a:r>
            <a:endParaRPr/>
          </a:p>
          <a:p>
            <a:pPr indent="0" lvl="0" marL="0" marR="0" rtl="0" algn="l">
              <a:lnSpc>
                <a:spcPct val="109068"/>
              </a:lnSpc>
              <a:spcBef>
                <a:spcPts val="0"/>
              </a:spcBef>
              <a:spcAft>
                <a:spcPts val="0"/>
              </a:spcAft>
              <a:buNone/>
            </a:pPr>
            <a:r>
              <a:t/>
            </a:r>
            <a:endParaRPr b="1" sz="4400">
              <a:solidFill>
                <a:srgbClr val="252525"/>
              </a:solidFill>
              <a:latin typeface="Arial"/>
              <a:ea typeface="Arial"/>
              <a:cs typeface="Arial"/>
              <a:sym typeface="Arial"/>
            </a:endParaRPr>
          </a:p>
        </p:txBody>
      </p:sp>
      <p:sp>
        <p:nvSpPr>
          <p:cNvPr id="249" name="Google Shape;249;p26"/>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n-US"/>
              <a:t>PROYECTO “SISTEMA WEB CLÍNICA VETERINARIA PUCARA DE SAN BERNARDO”</a:t>
            </a:r>
            <a:endParaRPr/>
          </a:p>
          <a:p>
            <a:pPr indent="0" lvl="0" marL="0" rtl="0" algn="ctr">
              <a:spcBef>
                <a:spcPts val="0"/>
              </a:spcBef>
              <a:spcAft>
                <a:spcPts val="0"/>
              </a:spcAft>
              <a:buNone/>
            </a:pPr>
            <a:r>
              <a:t/>
            </a:r>
            <a:endParaRPr/>
          </a:p>
        </p:txBody>
      </p:sp>
      <p:sp>
        <p:nvSpPr>
          <p:cNvPr id="250" name="Google Shape;250;p26"/>
          <p:cNvSpPr/>
          <p:nvPr/>
        </p:nvSpPr>
        <p:spPr>
          <a:xfrm>
            <a:off x="701200" y="2330025"/>
            <a:ext cx="4771800" cy="3837600"/>
          </a:xfrm>
          <a:prstGeom prst="roundRect">
            <a:avLst>
              <a:gd fmla="val 16667" name="adj"/>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342900" lvl="0" marL="342900" rtl="0" algn="just">
              <a:spcBef>
                <a:spcPts val="0"/>
              </a:spcBef>
              <a:spcAft>
                <a:spcPts val="0"/>
              </a:spcAft>
              <a:buClr>
                <a:schemeClr val="dk1"/>
              </a:buClr>
              <a:buSzPts val="2500"/>
              <a:buChar char="•"/>
            </a:pPr>
            <a:r>
              <a:rPr i="1" lang="en-US" sz="2500">
                <a:solidFill>
                  <a:schemeClr val="dk1"/>
                </a:solidFill>
                <a:latin typeface="Calibri"/>
                <a:ea typeface="Calibri"/>
                <a:cs typeface="Calibri"/>
                <a:sym typeface="Calibri"/>
              </a:rPr>
              <a:t>La clínica veterinaria mejorará su eficiencia, comunicación y alcance digital con sus clientes</a:t>
            </a:r>
            <a:endParaRPr>
              <a:solidFill>
                <a:schemeClr val="dk1"/>
              </a:solidFill>
            </a:endParaRPr>
          </a:p>
          <a:p>
            <a:pPr indent="-342900" lvl="0" marL="342900" rtl="0" algn="just">
              <a:spcBef>
                <a:spcPts val="0"/>
              </a:spcBef>
              <a:spcAft>
                <a:spcPts val="0"/>
              </a:spcAft>
              <a:buClr>
                <a:schemeClr val="dk1"/>
              </a:buClr>
              <a:buSzPts val="2500"/>
              <a:buChar char="•"/>
            </a:pPr>
            <a:r>
              <a:rPr i="1" lang="en-US" sz="2500">
                <a:solidFill>
                  <a:schemeClr val="dk1"/>
                </a:solidFill>
                <a:latin typeface="Calibri"/>
                <a:ea typeface="Calibri"/>
                <a:cs typeface="Calibri"/>
                <a:sym typeface="Calibri"/>
              </a:rPr>
              <a:t>La comunidad tendrá mayor acceso a educación sobre el bienestar animal que actualice la clínica veterinaria</a:t>
            </a:r>
            <a:endParaRPr i="1" sz="2500">
              <a:solidFill>
                <a:schemeClr val="dk1"/>
              </a:solidFill>
              <a:latin typeface="Calibri"/>
              <a:ea typeface="Calibri"/>
              <a:cs typeface="Calibri"/>
              <a:sym typeface="Calibri"/>
            </a:endParaRPr>
          </a:p>
          <a:p>
            <a:pPr indent="-342900" lvl="0" marL="342900" rtl="0" algn="just">
              <a:spcBef>
                <a:spcPts val="0"/>
              </a:spcBef>
              <a:spcAft>
                <a:spcPts val="0"/>
              </a:spcAft>
              <a:buClr>
                <a:schemeClr val="dk1"/>
              </a:buClr>
              <a:buSzPts val="2500"/>
              <a:buFont typeface="Calibri"/>
              <a:buChar char="•"/>
            </a:pPr>
            <a:r>
              <a:rPr i="1" lang="en-US" sz="2500">
                <a:solidFill>
                  <a:schemeClr val="dk1"/>
                </a:solidFill>
                <a:latin typeface="Calibri"/>
                <a:ea typeface="Calibri"/>
                <a:cs typeface="Calibri"/>
                <a:sym typeface="Calibri"/>
              </a:rPr>
              <a:t>Reducción de Tiempo en Registros</a:t>
            </a:r>
            <a:endParaRPr sz="1800">
              <a:solidFill>
                <a:schemeClr val="dk1"/>
              </a:solidFill>
              <a:latin typeface="Calibri"/>
              <a:ea typeface="Calibri"/>
              <a:cs typeface="Calibri"/>
              <a:sym typeface="Calibri"/>
            </a:endParaRPr>
          </a:p>
        </p:txBody>
      </p:sp>
      <p:pic>
        <p:nvPicPr>
          <p:cNvPr id="251" name="Google Shape;251;p26"/>
          <p:cNvPicPr preferRelativeResize="0"/>
          <p:nvPr/>
        </p:nvPicPr>
        <p:blipFill>
          <a:blip r:embed="rId4">
            <a:alphaModFix/>
          </a:blip>
          <a:stretch>
            <a:fillRect/>
          </a:stretch>
        </p:blipFill>
        <p:spPr>
          <a:xfrm>
            <a:off x="7346100" y="2466201"/>
            <a:ext cx="3363174" cy="3363174"/>
          </a:xfrm>
          <a:prstGeom prst="rect">
            <a:avLst/>
          </a:prstGeom>
          <a:noFill/>
          <a:ln>
            <a:noFill/>
          </a:ln>
        </p:spPr>
      </p:pic>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EscuelaIT Duoc UC - Escuela de Informática y Telecomunicaciones Duoc UC - Duoc  UC | LinkedIn" id="256" name="Google Shape;256;p2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7" name="Google Shape;257;p25"/>
          <p:cNvSpPr txBox="1"/>
          <p:nvPr/>
        </p:nvSpPr>
        <p:spPr>
          <a:xfrm>
            <a:off x="1" y="992898"/>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Obstáculos presentados durante el desarrollo</a:t>
            </a:r>
            <a:endParaRPr/>
          </a:p>
        </p:txBody>
      </p:sp>
      <p:sp>
        <p:nvSpPr>
          <p:cNvPr id="258" name="Google Shape;258;p25"/>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“NOMBRE DEL PROYECTO”</a:t>
            </a:r>
            <a:endParaRPr/>
          </a:p>
        </p:txBody>
      </p:sp>
      <p:sp>
        <p:nvSpPr>
          <p:cNvPr id="259" name="Google Shape;259;p25"/>
          <p:cNvSpPr txBox="1"/>
          <p:nvPr/>
        </p:nvSpPr>
        <p:spPr>
          <a:xfrm>
            <a:off x="323875" y="3391367"/>
            <a:ext cx="10176300" cy="10158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Integracion entre frontend y backend</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Base de datos</a:t>
            </a:r>
            <a:endParaRPr sz="2000">
              <a:solidFill>
                <a:schemeClr val="dk1"/>
              </a:solidFill>
              <a:latin typeface="Calibri"/>
              <a:ea typeface="Calibri"/>
              <a:cs typeface="Calibri"/>
              <a:sym typeface="Calibri"/>
            </a:endParaRPr>
          </a:p>
          <a:p>
            <a:pPr indent="-355600" lvl="0" marL="457200" marR="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validaciones en la reserva</a:t>
            </a:r>
            <a:endParaRPr sz="2000">
              <a:solidFill>
                <a:schemeClr val="dk1"/>
              </a:solidFill>
              <a:latin typeface="Calibri"/>
              <a:ea typeface="Calibri"/>
              <a:cs typeface="Calibri"/>
              <a:sym typeface="Calibri"/>
            </a:endParaRPr>
          </a:p>
        </p:txBody>
      </p:sp>
      <p:pic>
        <p:nvPicPr>
          <p:cNvPr id="260" name="Google Shape;260;p25"/>
          <p:cNvPicPr preferRelativeResize="0"/>
          <p:nvPr/>
        </p:nvPicPr>
        <p:blipFill>
          <a:blip r:embed="rId4">
            <a:alphaModFix/>
          </a:blip>
          <a:stretch>
            <a:fillRect/>
          </a:stretch>
        </p:blipFill>
        <p:spPr>
          <a:xfrm>
            <a:off x="6921500" y="2380130"/>
            <a:ext cx="3578676" cy="3578676"/>
          </a:xfrm>
          <a:prstGeom prst="rect">
            <a:avLst/>
          </a:prstGeom>
          <a:noFill/>
          <a:ln>
            <a:noFill/>
          </a:ln>
        </p:spPr>
      </p:pic>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EscuelaIT Duoc UC - Escuela de Informática y Telecomunicaciones Duoc UC - Duoc  UC | LinkedIn" id="265" name="Google Shape;265;p2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66" name="Google Shape;266;p24"/>
          <p:cNvSpPr txBox="1"/>
          <p:nvPr/>
        </p:nvSpPr>
        <p:spPr>
          <a:xfrm>
            <a:off x="516600" y="992900"/>
            <a:ext cx="139329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9068"/>
              </a:lnSpc>
              <a:spcBef>
                <a:spcPts val="0"/>
              </a:spcBef>
              <a:spcAft>
                <a:spcPts val="0"/>
              </a:spcAft>
              <a:buNone/>
            </a:pPr>
            <a:r>
              <a:rPr b="1" lang="en-US" sz="4200">
                <a:solidFill>
                  <a:srgbClr val="252525"/>
                </a:solidFill>
                <a:latin typeface="Arial"/>
                <a:ea typeface="Arial"/>
                <a:cs typeface="Arial"/>
                <a:sym typeface="Arial"/>
              </a:rPr>
              <a:t>INNOVACIÓN,FACTIBILIDAD Y VIABILIDAD</a:t>
            </a:r>
            <a:endParaRPr sz="1200"/>
          </a:p>
        </p:txBody>
      </p:sp>
      <p:sp>
        <p:nvSpPr>
          <p:cNvPr id="267" name="Google Shape;267;p24"/>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“NOMBRE DEL PROYECTO”</a:t>
            </a:r>
            <a:endParaRPr/>
          </a:p>
        </p:txBody>
      </p:sp>
      <p:sp>
        <p:nvSpPr>
          <p:cNvPr id="268" name="Google Shape;268;p24"/>
          <p:cNvSpPr txBox="1"/>
          <p:nvPr/>
        </p:nvSpPr>
        <p:spPr>
          <a:xfrm>
            <a:off x="120110" y="1966631"/>
            <a:ext cx="3813600" cy="377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Calibri"/>
                <a:ea typeface="Calibri"/>
                <a:cs typeface="Calibri"/>
                <a:sym typeface="Calibri"/>
              </a:rPr>
              <a:t>Innovación</a:t>
            </a:r>
            <a:endParaRPr b="1"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Agendamiento en línea en tiempo real para la clínica.</a:t>
            </a:r>
            <a:br>
              <a:rPr lang="en-US" sz="1700">
                <a:solidFill>
                  <a:schemeClr val="dk1"/>
                </a:solidFill>
                <a:latin typeface="Calibri"/>
                <a:ea typeface="Calibri"/>
                <a:cs typeface="Calibri"/>
                <a:sym typeface="Calibri"/>
              </a:rPr>
            </a:b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Plataforma 100% responsive y optimizada para móviles.</a:t>
            </a:r>
            <a:br>
              <a:rPr lang="en-US" sz="1700">
                <a:solidFill>
                  <a:schemeClr val="dk1"/>
                </a:solidFill>
                <a:latin typeface="Calibri"/>
                <a:ea typeface="Calibri"/>
                <a:cs typeface="Calibri"/>
                <a:sym typeface="Calibri"/>
              </a:rPr>
            </a:b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Panel administrativo autogestionable.</a:t>
            </a:r>
            <a:br>
              <a:rPr lang="en-US" sz="1700">
                <a:solidFill>
                  <a:schemeClr val="dk1"/>
                </a:solidFill>
                <a:latin typeface="Calibri"/>
                <a:ea typeface="Calibri"/>
                <a:cs typeface="Calibri"/>
                <a:sym typeface="Calibri"/>
              </a:rPr>
            </a:b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Integración de buenas prácticas modernas (WhatsApp, Google Maps).</a:t>
            </a:r>
            <a:endParaRPr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24"/>
          <p:cNvSpPr txBox="1"/>
          <p:nvPr/>
        </p:nvSpPr>
        <p:spPr>
          <a:xfrm>
            <a:off x="4058285" y="1966631"/>
            <a:ext cx="3813600" cy="432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Calibri"/>
                <a:ea typeface="Calibri"/>
                <a:cs typeface="Calibri"/>
                <a:sym typeface="Calibri"/>
              </a:rPr>
              <a:t>Factibilidad </a:t>
            </a:r>
            <a:endParaRPr b="1"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700">
                <a:solidFill>
                  <a:schemeClr val="dk1"/>
                </a:solidFill>
              </a:rPr>
              <a:t>Técnica:</a:t>
            </a:r>
            <a:r>
              <a:rPr lang="en-US" sz="1700">
                <a:solidFill>
                  <a:schemeClr val="dk1"/>
                </a:solidFill>
              </a:rPr>
              <a:t> Tecnologías gratuitas y estables (Ionic, Node.js, Oracle XE).</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Operativa:</a:t>
            </a:r>
            <a:r>
              <a:rPr lang="en-US" sz="1700">
                <a:solidFill>
                  <a:schemeClr val="dk1"/>
                </a:solidFill>
              </a:rPr>
              <a:t> Personal puede usar el sistema sin conocimientos técnicos.</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Económica:</a:t>
            </a:r>
            <a:r>
              <a:rPr lang="en-US" sz="1700">
                <a:solidFill>
                  <a:schemeClr val="dk1"/>
                </a:solidFill>
              </a:rPr>
              <a:t> Bajo costo (solo dominio + hosting).</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Humana:</a:t>
            </a:r>
            <a:r>
              <a:rPr lang="en-US" sz="1700">
                <a:solidFill>
                  <a:schemeClr val="dk1"/>
                </a:solidFill>
              </a:rPr>
              <a:t> Curva de aprendizaje baja y alta disposición del personal.</a:t>
            </a:r>
            <a:endParaRPr sz="1700">
              <a:solidFill>
                <a:schemeClr val="dk1"/>
              </a:solidFill>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24"/>
          <p:cNvSpPr txBox="1"/>
          <p:nvPr/>
        </p:nvSpPr>
        <p:spPr>
          <a:xfrm>
            <a:off x="8099960" y="1974281"/>
            <a:ext cx="3813600" cy="4309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Calibri"/>
                <a:ea typeface="Calibri"/>
                <a:cs typeface="Calibri"/>
                <a:sym typeface="Calibri"/>
              </a:rPr>
              <a:t>Viabilidad</a:t>
            </a:r>
            <a:endParaRPr b="1" sz="17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b="1" lang="en-US" sz="1700">
                <a:solidFill>
                  <a:schemeClr val="dk1"/>
                </a:solidFill>
              </a:rPr>
              <a:t>Técnica:</a:t>
            </a:r>
            <a:r>
              <a:rPr lang="en-US" sz="1700">
                <a:solidFill>
                  <a:schemeClr val="dk1"/>
                </a:solidFill>
              </a:rPr>
              <a:t> Fácil de mantener, escalar y actualizar.</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Económica:</a:t>
            </a:r>
            <a:r>
              <a:rPr lang="en-US" sz="1700">
                <a:solidFill>
                  <a:schemeClr val="dk1"/>
                </a:solidFill>
              </a:rPr>
              <a:t> Costos mínimos para operar a largo plazo.</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Operativa:</a:t>
            </a:r>
            <a:r>
              <a:rPr lang="en-US" sz="1700">
                <a:solidFill>
                  <a:schemeClr val="dk1"/>
                </a:solidFill>
              </a:rPr>
              <a:t> Autogestión total del panel administrativo.</a:t>
            </a:r>
            <a:br>
              <a:rPr lang="en-US" sz="1700">
                <a:solidFill>
                  <a:schemeClr val="dk1"/>
                </a:solidFill>
              </a:rPr>
            </a:br>
            <a:endParaRPr sz="1700">
              <a:solidFill>
                <a:schemeClr val="dk1"/>
              </a:solidFill>
            </a:endParaRPr>
          </a:p>
          <a:p>
            <a:pPr indent="0" lvl="0" marL="0" rtl="0" algn="l">
              <a:spcBef>
                <a:spcPts val="0"/>
              </a:spcBef>
              <a:spcAft>
                <a:spcPts val="0"/>
              </a:spcAft>
              <a:buClr>
                <a:schemeClr val="dk1"/>
              </a:buClr>
              <a:buSzPts val="1100"/>
              <a:buFont typeface="Arial"/>
              <a:buNone/>
            </a:pPr>
            <a:r>
              <a:rPr b="1" lang="en-US" sz="1700">
                <a:solidFill>
                  <a:schemeClr val="dk1"/>
                </a:solidFill>
              </a:rPr>
              <a:t>Social:</a:t>
            </a:r>
            <a:r>
              <a:rPr lang="en-US" sz="1700">
                <a:solidFill>
                  <a:schemeClr val="dk1"/>
                </a:solidFill>
              </a:rPr>
              <a:t> Alta adopción por parte de tutores acostumbrados a agendar online.</a:t>
            </a:r>
            <a:endParaRPr sz="1700">
              <a:solidFill>
                <a:schemeClr val="dk1"/>
              </a:solidFill>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nvSpPr>
        <p:spPr>
          <a:xfrm>
            <a:off x="0" y="992902"/>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Privacidad y Seguridad</a:t>
            </a:r>
            <a:endParaRPr/>
          </a:p>
        </p:txBody>
      </p:sp>
      <p:sp>
        <p:nvSpPr>
          <p:cNvPr id="276" name="Google Shape;276;p15"/>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
        <p:nvSpPr>
          <p:cNvPr id="277" name="Google Shape;277;p15"/>
          <p:cNvSpPr txBox="1"/>
          <p:nvPr/>
        </p:nvSpPr>
        <p:spPr>
          <a:xfrm>
            <a:off x="501445" y="2035277"/>
            <a:ext cx="1017638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El sistema web de la </a:t>
            </a:r>
            <a:r>
              <a:rPr b="1" lang="en-US" sz="1800">
                <a:solidFill>
                  <a:schemeClr val="dk1"/>
                </a:solidFill>
                <a:latin typeface="Calibri"/>
                <a:ea typeface="Calibri"/>
                <a:cs typeface="Calibri"/>
                <a:sym typeface="Calibri"/>
              </a:rPr>
              <a:t>Clínica Veterinaria Pucará</a:t>
            </a:r>
            <a:r>
              <a:rPr lang="en-US" sz="1800">
                <a:solidFill>
                  <a:schemeClr val="dk1"/>
                </a:solidFill>
                <a:latin typeface="Calibri"/>
                <a:ea typeface="Calibri"/>
                <a:cs typeface="Calibri"/>
                <a:sym typeface="Calibri"/>
              </a:rPr>
              <a:t> ha implementado una serie de validaciones de seguridad para proteger los datos de los usuarios y garantizar la integridad del sistema:</a:t>
            </a:r>
            <a:endParaRPr sz="1800">
              <a:solidFill>
                <a:schemeClr val="dk1"/>
              </a:solidFill>
              <a:latin typeface="Calibri"/>
              <a:ea typeface="Calibri"/>
              <a:cs typeface="Calibri"/>
              <a:sym typeface="Calibri"/>
            </a:endParaRPr>
          </a:p>
        </p:txBody>
      </p:sp>
      <p:sp>
        <p:nvSpPr>
          <p:cNvPr id="278" name="Google Shape;278;p15"/>
          <p:cNvSpPr txBox="1"/>
          <p:nvPr/>
        </p:nvSpPr>
        <p:spPr>
          <a:xfrm>
            <a:off x="629265" y="2998839"/>
            <a:ext cx="10628670"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Validación de Campos de Entrada</a:t>
            </a:r>
            <a:r>
              <a:rPr lang="en-US" sz="1800">
                <a:solidFill>
                  <a:schemeClr val="dk1"/>
                </a:solidFill>
                <a:latin typeface="Calibri"/>
                <a:ea typeface="Calibri"/>
                <a:cs typeface="Calibri"/>
                <a:sym typeface="Calibri"/>
              </a:rPr>
              <a:t>: Se validó </a:t>
            </a:r>
            <a:r>
              <a:rPr b="1" lang="en-US" sz="1800">
                <a:solidFill>
                  <a:schemeClr val="dk1"/>
                </a:solidFill>
                <a:latin typeface="Calibri"/>
                <a:ea typeface="Calibri"/>
                <a:cs typeface="Calibri"/>
                <a:sym typeface="Calibri"/>
              </a:rPr>
              <a:t>RUT</a:t>
            </a:r>
            <a:r>
              <a:rPr lang="en-US" sz="1800">
                <a:solidFill>
                  <a:schemeClr val="dk1"/>
                </a:solidFill>
                <a:latin typeface="Calibri"/>
                <a:ea typeface="Calibri"/>
                <a:cs typeface="Calibri"/>
                <a:sym typeface="Calibri"/>
              </a:rPr>
              <a:t> que tenga el formato correcto, </a:t>
            </a:r>
            <a:r>
              <a:rPr b="1" lang="en-US" sz="1800">
                <a:solidFill>
                  <a:schemeClr val="dk1"/>
                </a:solidFill>
                <a:latin typeface="Calibri"/>
                <a:ea typeface="Calibri"/>
                <a:cs typeface="Calibri"/>
                <a:sym typeface="Calibri"/>
              </a:rPr>
              <a:t>Teléfono</a:t>
            </a:r>
            <a:r>
              <a:rPr lang="en-US" sz="1800">
                <a:solidFill>
                  <a:schemeClr val="dk1"/>
                </a:solidFill>
                <a:latin typeface="Calibri"/>
                <a:ea typeface="Calibri"/>
                <a:cs typeface="Calibri"/>
                <a:sym typeface="Calibri"/>
              </a:rPr>
              <a:t> con su largo de 9 dígitos y </a:t>
            </a:r>
            <a:r>
              <a:rPr b="1" lang="en-US" sz="1800">
                <a:solidFill>
                  <a:schemeClr val="dk1"/>
                </a:solidFill>
                <a:latin typeface="Calibri"/>
                <a:ea typeface="Calibri"/>
                <a:cs typeface="Calibri"/>
                <a:sym typeface="Calibri"/>
              </a:rPr>
              <a:t>Correo electrónico</a:t>
            </a:r>
            <a:r>
              <a:rPr lang="en-US" sz="1800">
                <a:solidFill>
                  <a:schemeClr val="dk1"/>
                </a:solidFill>
                <a:latin typeface="Calibri"/>
                <a:ea typeface="Calibri"/>
                <a:cs typeface="Calibri"/>
                <a:sym typeface="Calibri"/>
              </a:rPr>
              <a:t> valida el formato adecuado.</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Mensajes de Error Informativos</a:t>
            </a:r>
            <a:r>
              <a:rPr lang="en-US" sz="1800">
                <a:solidFill>
                  <a:schemeClr val="dk1"/>
                </a:solidFill>
                <a:latin typeface="Calibri"/>
                <a:ea typeface="Calibri"/>
                <a:cs typeface="Calibri"/>
                <a:sym typeface="Calibri"/>
              </a:rPr>
              <a:t>: El sistema proporciona mensajes de error claros cuando los datos ingresados son incorrectos, como </a:t>
            </a:r>
            <a:r>
              <a:rPr b="1" lang="en-US" sz="1800">
                <a:solidFill>
                  <a:schemeClr val="dk1"/>
                </a:solidFill>
                <a:latin typeface="Calibri"/>
                <a:ea typeface="Calibri"/>
                <a:cs typeface="Calibri"/>
                <a:sym typeface="Calibri"/>
              </a:rPr>
              <a:t>"Debes ingresar un apellido"</a:t>
            </a:r>
            <a:r>
              <a:rPr lang="en-US" sz="1800">
                <a:solidFill>
                  <a:schemeClr val="dk1"/>
                </a:solidFill>
                <a:latin typeface="Calibri"/>
                <a:ea typeface="Calibri"/>
                <a:cs typeface="Calibri"/>
                <a:sym typeface="Calibri"/>
              </a:rPr>
              <a:t> o </a:t>
            </a:r>
            <a:r>
              <a:rPr b="1" lang="en-US" sz="1800">
                <a:solidFill>
                  <a:schemeClr val="dk1"/>
                </a:solidFill>
                <a:latin typeface="Calibri"/>
                <a:ea typeface="Calibri"/>
                <a:cs typeface="Calibri"/>
                <a:sym typeface="Calibri"/>
              </a:rPr>
              <a:t>"RUT inválido"</a:t>
            </a:r>
            <a:r>
              <a:rPr lang="en-US" sz="1800">
                <a:solidFill>
                  <a:schemeClr val="dk1"/>
                </a:solidFill>
                <a:latin typeface="Calibri"/>
                <a:ea typeface="Calibri"/>
                <a:cs typeface="Calibri"/>
                <a:sym typeface="Calibri"/>
              </a:rPr>
              <a:t>, garantizando que el usuario pueda corregir fácilmente los errores.</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Confirmación de Datos</a:t>
            </a:r>
            <a:r>
              <a:rPr lang="en-US" sz="1800">
                <a:solidFill>
                  <a:schemeClr val="dk1"/>
                </a:solidFill>
                <a:latin typeface="Calibri"/>
                <a:ea typeface="Calibri"/>
                <a:cs typeface="Calibri"/>
                <a:sym typeface="Calibri"/>
              </a:rPr>
              <a:t>: Antes de finalizar la reserva, el sistema solicita la confirmación de los datos ingresados, garantizando que los usuarios puedan verificar y corregir cualquier error antes de completar el proceso.</a:t>
            </a:r>
            <a:endParaRPr sz="1800">
              <a:solidFill>
                <a:schemeClr val="dk1"/>
              </a:solidFill>
              <a:latin typeface="Calibri"/>
              <a:ea typeface="Calibri"/>
              <a:cs typeface="Calibri"/>
              <a:sym typeface="Calibri"/>
            </a:endParaRPr>
          </a:p>
        </p:txBody>
      </p:sp>
      <p:pic>
        <p:nvPicPr>
          <p:cNvPr descr="Icono de seguridad informática PNG transparente - StickPNG" id="279" name="Google Shape;279;p15"/>
          <p:cNvPicPr preferRelativeResize="0"/>
          <p:nvPr/>
        </p:nvPicPr>
        <p:blipFill rotWithShape="1">
          <a:blip r:embed="rId3">
            <a:alphaModFix/>
          </a:blip>
          <a:srcRect b="0" l="0" r="0" t="0"/>
          <a:stretch/>
        </p:blipFill>
        <p:spPr>
          <a:xfrm>
            <a:off x="9635613" y="5056884"/>
            <a:ext cx="1553344" cy="1553344"/>
          </a:xfrm>
          <a:prstGeom prst="rect">
            <a:avLst/>
          </a:prstGeom>
          <a:noFill/>
          <a:ln>
            <a:noFill/>
          </a:ln>
        </p:spPr>
      </p:pic>
      <p:pic>
        <p:nvPicPr>
          <p:cNvPr descr="Dibujos De Diseño De Seguridad Vial - Muñequito En 3d De Seguridad  Industrial PNG Transparent With Clear Background ID 196853 | TOPpng" id="280" name="Google Shape;280;p15"/>
          <p:cNvPicPr preferRelativeResize="0"/>
          <p:nvPr/>
        </p:nvPicPr>
        <p:blipFill rotWithShape="1">
          <a:blip r:embed="rId4">
            <a:alphaModFix/>
          </a:blip>
          <a:srcRect b="0" l="0" r="0" t="0"/>
          <a:stretch/>
        </p:blipFill>
        <p:spPr>
          <a:xfrm>
            <a:off x="2074757" y="5207531"/>
            <a:ext cx="1553345" cy="1588648"/>
          </a:xfrm>
          <a:prstGeom prst="rect">
            <a:avLst/>
          </a:prstGeom>
          <a:noFill/>
          <a:ln>
            <a:noFill/>
          </a:ln>
        </p:spPr>
      </p:pic>
    </p:spTree>
  </p:cSld>
  <p:clrMapOvr>
    <a:masterClrMapping/>
  </p:clrMapOvr>
  <p:transition spd="slow">
    <p:wipe dir="l"/>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nvSpPr>
        <p:spPr>
          <a:xfrm>
            <a:off x="806245" y="1720840"/>
            <a:ext cx="8613058" cy="452431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Continuidad en la empresa</a:t>
            </a:r>
            <a:r>
              <a:rPr lang="en-US" sz="1800">
                <a:solidFill>
                  <a:schemeClr val="dk1"/>
                </a:solidFill>
                <a:latin typeface="Calibri"/>
                <a:ea typeface="Calibri"/>
                <a:cs typeface="Calibri"/>
                <a:sym typeface="Calibri"/>
              </a:rPr>
              <a:t>: La </a:t>
            </a:r>
            <a:r>
              <a:rPr b="1" lang="en-US" sz="1800">
                <a:solidFill>
                  <a:schemeClr val="dk1"/>
                </a:solidFill>
                <a:latin typeface="Calibri"/>
                <a:ea typeface="Calibri"/>
                <a:cs typeface="Calibri"/>
                <a:sym typeface="Calibri"/>
              </a:rPr>
              <a:t>Clínica Veterinaria Pucará</a:t>
            </a:r>
            <a:r>
              <a:rPr lang="en-US" sz="1800">
                <a:solidFill>
                  <a:schemeClr val="dk1"/>
                </a:solidFill>
                <a:latin typeface="Calibri"/>
                <a:ea typeface="Calibri"/>
                <a:cs typeface="Calibri"/>
                <a:sym typeface="Calibri"/>
              </a:rPr>
              <a:t> podrá seguir utilizando el sitio web como una herramienta clave para la gestión de citas, comunicación con clientes y promoción de servicios, sin depender de recursos externos, gracias a su sistema autogestionable.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Apoyo institucional</a:t>
            </a:r>
            <a:r>
              <a:rPr lang="en-US" sz="1800">
                <a:solidFill>
                  <a:schemeClr val="dk1"/>
                </a:solidFill>
                <a:latin typeface="Calibri"/>
                <a:ea typeface="Calibri"/>
                <a:cs typeface="Calibri"/>
                <a:sym typeface="Calibri"/>
              </a:rPr>
              <a:t>: El proyecto se enmarca en la </a:t>
            </a:r>
            <a:r>
              <a:rPr b="1" lang="en-US" sz="1800">
                <a:solidFill>
                  <a:schemeClr val="dk1"/>
                </a:solidFill>
                <a:latin typeface="Calibri"/>
                <a:ea typeface="Calibri"/>
                <a:cs typeface="Calibri"/>
                <a:sym typeface="Calibri"/>
              </a:rPr>
              <a:t>Escuela de Informática y Telecomunicaciones de Duoc UC</a:t>
            </a:r>
            <a:r>
              <a:rPr lang="en-US" sz="1800">
                <a:solidFill>
                  <a:schemeClr val="dk1"/>
                </a:solidFill>
                <a:latin typeface="Calibri"/>
                <a:ea typeface="Calibri"/>
                <a:cs typeface="Calibri"/>
                <a:sym typeface="Calibri"/>
              </a:rPr>
              <a:t>, lo que asegura que el desarrollo del sitio web se haya hecho con altos estándares técnicos.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Comunidad activa</a:t>
            </a:r>
            <a:r>
              <a:rPr lang="en-US" sz="1800">
                <a:solidFill>
                  <a:schemeClr val="dk1"/>
                </a:solidFill>
                <a:latin typeface="Calibri"/>
                <a:ea typeface="Calibri"/>
                <a:cs typeface="Calibri"/>
                <a:sym typeface="Calibri"/>
              </a:rPr>
              <a:t>: La plataforma digital puede seguir evolucionando gracias a los comentarios de los clientes y al uso diario del sistema, permitiendo mejoras continuas en la experiencia de los usuarios y la gestión interna.</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Escalabilidad futura</a:t>
            </a:r>
            <a:r>
              <a:rPr lang="en-US" sz="1800">
                <a:solidFill>
                  <a:schemeClr val="dk1"/>
                </a:solidFill>
                <a:latin typeface="Calibri"/>
                <a:ea typeface="Calibri"/>
                <a:cs typeface="Calibri"/>
                <a:sym typeface="Calibri"/>
              </a:rPr>
              <a:t>: El sitio web está diseñado con </a:t>
            </a:r>
            <a:r>
              <a:rPr b="1" lang="en-US" sz="1800">
                <a:solidFill>
                  <a:schemeClr val="dk1"/>
                </a:solidFill>
                <a:latin typeface="Calibri"/>
                <a:ea typeface="Calibri"/>
                <a:cs typeface="Calibri"/>
                <a:sym typeface="Calibri"/>
              </a:rPr>
              <a:t>tecnologías escalables</a:t>
            </a:r>
            <a:r>
              <a:rPr lang="en-US" sz="1800">
                <a:solidFill>
                  <a:schemeClr val="dk1"/>
                </a:solidFill>
                <a:latin typeface="Calibri"/>
                <a:ea typeface="Calibri"/>
                <a:cs typeface="Calibri"/>
                <a:sym typeface="Calibri"/>
              </a:rPr>
              <a:t> (Ionic, Node.js, Oracle XE) que permiten la incorporación de nuevas funcionalidades en el futuro, como la integración con otros servicios o la expansión a otras clínicas de la red.</a:t>
            </a:r>
            <a:endParaRPr sz="1800">
              <a:solidFill>
                <a:schemeClr val="dk1"/>
              </a:solidFill>
              <a:latin typeface="Calibri"/>
              <a:ea typeface="Calibri"/>
              <a:cs typeface="Calibri"/>
              <a:sym typeface="Calibri"/>
            </a:endParaRPr>
          </a:p>
        </p:txBody>
      </p:sp>
      <p:sp>
        <p:nvSpPr>
          <p:cNvPr id="286" name="Google Shape;286;p17"/>
          <p:cNvSpPr txBox="1"/>
          <p:nvPr/>
        </p:nvSpPr>
        <p:spPr>
          <a:xfrm>
            <a:off x="1" y="803053"/>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Modelo de Sustentabilidad</a:t>
            </a:r>
            <a:endParaRPr/>
          </a:p>
        </p:txBody>
      </p:sp>
      <p:pic>
        <p:nvPicPr>
          <p:cNvPr descr="Sustentabilidad - Iconos gratis de ecología y medio ambiente" id="287" name="Google Shape;287;p17"/>
          <p:cNvPicPr preferRelativeResize="0"/>
          <p:nvPr/>
        </p:nvPicPr>
        <p:blipFill rotWithShape="1">
          <a:blip r:embed="rId3">
            <a:alphaModFix/>
          </a:blip>
          <a:srcRect b="0" l="0" r="0" t="0"/>
          <a:stretch/>
        </p:blipFill>
        <p:spPr>
          <a:xfrm>
            <a:off x="9195619" y="3397120"/>
            <a:ext cx="2996381" cy="2996381"/>
          </a:xfrm>
          <a:prstGeom prst="rect">
            <a:avLst/>
          </a:prstGeom>
          <a:noFill/>
          <a:ln>
            <a:noFill/>
          </a:ln>
        </p:spPr>
      </p:pic>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8"/>
          <p:cNvSpPr txBox="1"/>
          <p:nvPr/>
        </p:nvSpPr>
        <p:spPr>
          <a:xfrm>
            <a:off x="394560" y="1934006"/>
            <a:ext cx="3813645"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¿Qué es el proyecto y cómo se diferencia?</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Es un sistema web para la Clínica Veterinaria Pucará que optimiza la gestión de citas y la comunicación con los tutores de mascotas, con un enfoque local, sin depender de la nube.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8"/>
          <p:cNvSpPr txBox="1"/>
          <p:nvPr/>
        </p:nvSpPr>
        <p:spPr>
          <a:xfrm>
            <a:off x="-419222" y="869494"/>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Modelo de Negocio</a:t>
            </a:r>
            <a:endParaRPr/>
          </a:p>
        </p:txBody>
      </p:sp>
      <p:pic>
        <p:nvPicPr>
          <p:cNvPr descr="Modelo de negocio - Iconos gratis de negocio" id="294" name="Google Shape;294;p18"/>
          <p:cNvPicPr preferRelativeResize="0"/>
          <p:nvPr/>
        </p:nvPicPr>
        <p:blipFill rotWithShape="1">
          <a:blip r:embed="rId3">
            <a:alphaModFix/>
          </a:blip>
          <a:srcRect b="0" l="0" r="0" t="0"/>
          <a:stretch/>
        </p:blipFill>
        <p:spPr>
          <a:xfrm>
            <a:off x="4109884" y="2633619"/>
            <a:ext cx="2787941" cy="2787941"/>
          </a:xfrm>
          <a:prstGeom prst="rect">
            <a:avLst/>
          </a:prstGeom>
          <a:noFill/>
          <a:ln>
            <a:noFill/>
          </a:ln>
        </p:spPr>
      </p:pic>
      <p:sp>
        <p:nvSpPr>
          <p:cNvPr id="295" name="Google Shape;295;p18"/>
          <p:cNvSpPr txBox="1"/>
          <p:nvPr/>
        </p:nvSpPr>
        <p:spPr>
          <a:xfrm>
            <a:off x="492883" y="4821396"/>
            <a:ext cx="361700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¿Para quién está hecho?</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Está dirigido a los tutores de mascotas y a los profesionales de la clínica.</a:t>
            </a:r>
            <a:endParaRPr sz="1800">
              <a:solidFill>
                <a:schemeClr val="dk1"/>
              </a:solidFill>
              <a:latin typeface="Calibri"/>
              <a:ea typeface="Calibri"/>
              <a:cs typeface="Calibri"/>
              <a:sym typeface="Calibri"/>
            </a:endParaRPr>
          </a:p>
        </p:txBody>
      </p:sp>
      <p:sp>
        <p:nvSpPr>
          <p:cNvPr id="296" name="Google Shape;296;p18"/>
          <p:cNvSpPr txBox="1"/>
          <p:nvPr/>
        </p:nvSpPr>
        <p:spPr>
          <a:xfrm>
            <a:off x="6993153" y="1934006"/>
            <a:ext cx="399931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¿Cómo entrega valor?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Mejora la experiencia del usuario al facilitar reservas y consultas, y optimiza los procesos internos de la clínica.</a:t>
            </a:r>
            <a:endParaRPr sz="1800">
              <a:solidFill>
                <a:schemeClr val="dk1"/>
              </a:solidFill>
              <a:latin typeface="Calibri"/>
              <a:ea typeface="Calibri"/>
              <a:cs typeface="Calibri"/>
              <a:sym typeface="Calibri"/>
            </a:endParaRPr>
          </a:p>
        </p:txBody>
      </p:sp>
      <p:sp>
        <p:nvSpPr>
          <p:cNvPr id="297" name="Google Shape;297;p18"/>
          <p:cNvSpPr txBox="1"/>
          <p:nvPr/>
        </p:nvSpPr>
        <p:spPr>
          <a:xfrm>
            <a:off x="7386443" y="4634746"/>
            <a:ext cx="399931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¿Cómo entrega valor?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Mejora la experiencia del usuario al facilitar reservas y consultas, y optimiza los procesos internos de la clínica.</a:t>
            </a:r>
            <a:endParaRPr sz="1800">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EscuelaIT Duoc UC - Escuela de Informática y Telecomunicaciones Duoc UC - Duoc  UC | LinkedIn" id="302" name="Google Shape;302;p1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03" name="Google Shape;303;p16"/>
          <p:cNvSpPr txBox="1"/>
          <p:nvPr/>
        </p:nvSpPr>
        <p:spPr>
          <a:xfrm>
            <a:off x="1" y="803053"/>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Conclusiones</a:t>
            </a:r>
            <a:endParaRPr/>
          </a:p>
        </p:txBody>
      </p:sp>
      <p:sp>
        <p:nvSpPr>
          <p:cNvPr id="304" name="Google Shape;304;p16"/>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
        <p:nvSpPr>
          <p:cNvPr id="305" name="Google Shape;305;p16"/>
          <p:cNvSpPr txBox="1"/>
          <p:nvPr/>
        </p:nvSpPr>
        <p:spPr>
          <a:xfrm>
            <a:off x="1150374" y="1675606"/>
            <a:ext cx="980276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El proyecto </a:t>
            </a:r>
            <a:r>
              <a:rPr b="1" lang="en-US" sz="1800">
                <a:solidFill>
                  <a:schemeClr val="dk1"/>
                </a:solidFill>
                <a:latin typeface="Calibri"/>
                <a:ea typeface="Calibri"/>
                <a:cs typeface="Calibri"/>
                <a:sym typeface="Calibri"/>
              </a:rPr>
              <a:t>"Sistema Web Clínica Veterinaria Pucará"</a:t>
            </a:r>
            <a:r>
              <a:rPr lang="en-US" sz="1800">
                <a:solidFill>
                  <a:schemeClr val="dk1"/>
                </a:solidFill>
                <a:latin typeface="Calibri"/>
                <a:ea typeface="Calibri"/>
                <a:cs typeface="Calibri"/>
                <a:sym typeface="Calibri"/>
              </a:rPr>
              <a:t> ha logrado los objetivos establecidos, transformando la manera en que la clínica interactúa con los tutores de mascotas y gestionan sus citas. Con la implementación de un sitio web responsivo y un sistema de reservas en línea, se ha optimizado el acceso a los servicios, mejorando la eficiencia operativa de la clínica.</a:t>
            </a:r>
            <a:endParaRPr sz="1800">
              <a:solidFill>
                <a:schemeClr val="dk1"/>
              </a:solidFill>
              <a:latin typeface="Calibri"/>
              <a:ea typeface="Calibri"/>
              <a:cs typeface="Calibri"/>
              <a:sym typeface="Calibri"/>
            </a:endParaRPr>
          </a:p>
        </p:txBody>
      </p:sp>
      <p:sp>
        <p:nvSpPr>
          <p:cNvPr id="306" name="Google Shape;306;p16"/>
          <p:cNvSpPr txBox="1"/>
          <p:nvPr/>
        </p:nvSpPr>
        <p:spPr>
          <a:xfrm>
            <a:off x="1150374" y="3342968"/>
            <a:ext cx="7482349"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Impacto del proyecto</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Mejora en la experiencia del usuario:</a:t>
            </a:r>
            <a:r>
              <a:rPr lang="en-US" sz="1800">
                <a:solidFill>
                  <a:schemeClr val="dk1"/>
                </a:solidFill>
                <a:latin typeface="Calibri"/>
                <a:ea typeface="Calibri"/>
                <a:cs typeface="Calibri"/>
                <a:sym typeface="Calibri"/>
              </a:rPr>
              <a:t> Los clientes ahora pueden gestionar sus citas de manera ágil, lo que reduce la dependencia de métodos tradicionales y aumenta la satisfacción.</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Eficiencia operativa:</a:t>
            </a:r>
            <a:r>
              <a:rPr lang="en-US" sz="1800">
                <a:solidFill>
                  <a:schemeClr val="dk1"/>
                </a:solidFill>
                <a:latin typeface="Calibri"/>
                <a:ea typeface="Calibri"/>
                <a:cs typeface="Calibri"/>
                <a:sym typeface="Calibri"/>
              </a:rPr>
              <a:t> La clínica tiene ahora una herramienta de gestión moderna que facilita la administración de citas, servicios y comunicación con los clientes.</a:t>
            </a:r>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Visibilidad y competitividad:</a:t>
            </a:r>
            <a:r>
              <a:rPr lang="en-US" sz="1800">
                <a:solidFill>
                  <a:schemeClr val="dk1"/>
                </a:solidFill>
                <a:latin typeface="Calibri"/>
                <a:ea typeface="Calibri"/>
                <a:cs typeface="Calibri"/>
                <a:sym typeface="Calibri"/>
              </a:rPr>
              <a:t> El sitio web contribuye a la presencia digital de la clínica, colocándola en una posición más competitiva dentro del mercado local.</a:t>
            </a:r>
            <a:endParaRPr sz="1800">
              <a:solidFill>
                <a:schemeClr val="dk1"/>
              </a:solidFill>
              <a:latin typeface="Calibri"/>
              <a:ea typeface="Calibri"/>
              <a:cs typeface="Calibri"/>
              <a:sym typeface="Calibri"/>
            </a:endParaRPr>
          </a:p>
        </p:txBody>
      </p:sp>
      <p:pic>
        <p:nvPicPr>
          <p:cNvPr descr="Veterinario - Iconos gratis de personas" id="307" name="Google Shape;307;p16"/>
          <p:cNvPicPr preferRelativeResize="0"/>
          <p:nvPr/>
        </p:nvPicPr>
        <p:blipFill rotWithShape="1">
          <a:blip r:embed="rId4">
            <a:alphaModFix/>
          </a:blip>
          <a:srcRect b="0" l="0" r="0" t="0"/>
          <a:stretch/>
        </p:blipFill>
        <p:spPr>
          <a:xfrm>
            <a:off x="8772151" y="3342967"/>
            <a:ext cx="2851355" cy="2851355"/>
          </a:xfrm>
          <a:prstGeom prst="rect">
            <a:avLst/>
          </a:prstGeom>
          <a:noFill/>
          <a:ln>
            <a:noFill/>
          </a:ln>
        </p:spPr>
      </p:pic>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EscuelaIT Duoc UC - Escuela de Informática y Telecomunicaciones Duoc UC - Duoc  UC | LinkedIn" id="313" name="Google Shape;313;p1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14" name="Google Shape;314;p19"/>
          <p:cNvSpPr txBox="1"/>
          <p:nvPr/>
        </p:nvSpPr>
        <p:spPr>
          <a:xfrm>
            <a:off x="1" y="720918"/>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Reflexión</a:t>
            </a:r>
            <a:endParaRPr/>
          </a:p>
        </p:txBody>
      </p:sp>
      <p:sp>
        <p:nvSpPr>
          <p:cNvPr id="315" name="Google Shape;315;p19"/>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grpSp>
        <p:nvGrpSpPr>
          <p:cNvPr id="316" name="Google Shape;316;p19"/>
          <p:cNvGrpSpPr/>
          <p:nvPr/>
        </p:nvGrpSpPr>
        <p:grpSpPr>
          <a:xfrm>
            <a:off x="471947" y="1921301"/>
            <a:ext cx="10979609" cy="3938724"/>
            <a:chOff x="-1" y="0"/>
            <a:chExt cx="10979609" cy="3938724"/>
          </a:xfrm>
        </p:grpSpPr>
        <p:sp>
          <p:nvSpPr>
            <p:cNvPr id="317" name="Google Shape;317;p19"/>
            <p:cNvSpPr/>
            <p:nvPr/>
          </p:nvSpPr>
          <p:spPr>
            <a:xfrm rot="-5400000">
              <a:off x="1760220" y="-1760220"/>
              <a:ext cx="1969362" cy="5489804"/>
            </a:xfrm>
            <a:prstGeom prst="round1Rect">
              <a:avLst>
                <a:gd fmla="val 16667" name="adj"/>
              </a:avLst>
            </a:prstGeom>
            <a:gradFill>
              <a:gsLst>
                <a:gs pos="0">
                  <a:schemeClr val="lt1"/>
                </a:gs>
                <a:gs pos="50000">
                  <a:schemeClr val="lt1"/>
                </a:gs>
                <a:gs pos="100000">
                  <a:srgbClr val="E1E1E1"/>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txBox="1"/>
            <p:nvPr/>
          </p:nvSpPr>
          <p:spPr>
            <a:xfrm>
              <a:off x="0" y="0"/>
              <a:ext cx="5489804" cy="1477021"/>
            </a:xfrm>
            <a:prstGeom prst="rect">
              <a:avLst/>
            </a:prstGeom>
            <a:noFill/>
            <a:ln>
              <a:noFill/>
            </a:ln>
          </p:spPr>
          <p:txBody>
            <a:bodyPr anchorCtr="0" anchor="ctr" bIns="85325" lIns="85325" spcFirstLastPara="1" rIns="85325" wrap="square" tIns="85325">
              <a:noAutofit/>
            </a:bodyPr>
            <a:lstStyle/>
            <a:p>
              <a:pPr indent="0" lvl="0" marL="0" marR="0" rtl="0" algn="l">
                <a:lnSpc>
                  <a:spcPct val="90000"/>
                </a:lnSpc>
                <a:spcBef>
                  <a:spcPts val="420"/>
                </a:spcBef>
                <a:spcAft>
                  <a:spcPts val="0"/>
                </a:spcAft>
                <a:buClr>
                  <a:schemeClr val="lt1"/>
                </a:buClr>
                <a:buSzPts val="1600"/>
                <a:buFont typeface="Calibri"/>
                <a:buNone/>
              </a:pPr>
              <a:r>
                <a:t/>
              </a:r>
              <a:endParaRPr>
                <a:solidFill>
                  <a:schemeClr val="dk1"/>
                </a:solidFill>
              </a:endParaRPr>
            </a:p>
            <a:p>
              <a:pPr indent="0" lvl="0" marL="0" marR="0" rtl="0" algn="l">
                <a:lnSpc>
                  <a:spcPct val="90000"/>
                </a:lnSpc>
                <a:spcBef>
                  <a:spcPts val="560"/>
                </a:spcBef>
                <a:spcAft>
                  <a:spcPts val="0"/>
                </a:spcAft>
                <a:buClr>
                  <a:schemeClr val="lt1"/>
                </a:buClr>
                <a:buSzPts val="1600"/>
                <a:buFont typeface="Calibri"/>
                <a:buNone/>
              </a:pPr>
              <a:r>
                <a:rPr lang="en-US" sz="1600">
                  <a:solidFill>
                    <a:srgbClr val="252525"/>
                  </a:solidFill>
                  <a:latin typeface="Calibri"/>
                  <a:ea typeface="Calibri"/>
                  <a:cs typeface="Calibri"/>
                  <a:sym typeface="Calibri"/>
                </a:rPr>
                <a:t>Comprendí cómo cada tarea se conectaba con el sistema completo y su impacto en la clínica.</a:t>
              </a:r>
              <a:endParaRPr sz="1600">
                <a:solidFill>
                  <a:srgbClr val="252525"/>
                </a:solidFill>
                <a:latin typeface="Calibri"/>
                <a:ea typeface="Calibri"/>
                <a:cs typeface="Calibri"/>
                <a:sym typeface="Calibri"/>
              </a:endParaRPr>
            </a:p>
          </p:txBody>
        </p:sp>
        <p:sp>
          <p:nvSpPr>
            <p:cNvPr id="319" name="Google Shape;319;p19"/>
            <p:cNvSpPr/>
            <p:nvPr/>
          </p:nvSpPr>
          <p:spPr>
            <a:xfrm>
              <a:off x="5489804" y="0"/>
              <a:ext cx="5489804" cy="1969362"/>
            </a:xfrm>
            <a:prstGeom prst="round1Rect">
              <a:avLst>
                <a:gd fmla="val 16667" name="adj"/>
              </a:avLst>
            </a:prstGeom>
            <a:gradFill>
              <a:gsLst>
                <a:gs pos="0">
                  <a:schemeClr val="lt1"/>
                </a:gs>
                <a:gs pos="50000">
                  <a:schemeClr val="lt1"/>
                </a:gs>
                <a:gs pos="100000">
                  <a:srgbClr val="E1E1E1"/>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txBox="1"/>
            <p:nvPr/>
          </p:nvSpPr>
          <p:spPr>
            <a:xfrm>
              <a:off x="5489804" y="0"/>
              <a:ext cx="5489804" cy="1477021"/>
            </a:xfrm>
            <a:prstGeom prst="rect">
              <a:avLst/>
            </a:prstGeom>
            <a:noFill/>
            <a:ln>
              <a:noFill/>
            </a:ln>
          </p:spPr>
          <p:txBody>
            <a:bodyPr anchorCtr="0" anchor="ctr" bIns="85325" lIns="85325" spcFirstLastPara="1" rIns="85325" wrap="square" tIns="85325">
              <a:noAutofit/>
            </a:bodyPr>
            <a:lstStyle/>
            <a:p>
              <a:pPr indent="0" lvl="0" marL="0" marR="0" rtl="0" algn="ctr">
                <a:lnSpc>
                  <a:spcPct val="90000"/>
                </a:lnSpc>
                <a:spcBef>
                  <a:spcPts val="0"/>
                </a:spcBef>
                <a:spcAft>
                  <a:spcPts val="0"/>
                </a:spcAft>
                <a:buClr>
                  <a:schemeClr val="dk1"/>
                </a:buClr>
                <a:buSzPts val="1200"/>
                <a:buFont typeface="Calibri"/>
                <a:buNone/>
              </a:pPr>
              <a:r>
                <a:t/>
              </a:r>
              <a:endParaRPr sz="1200">
                <a:solidFill>
                  <a:schemeClr val="lt1"/>
                </a:solidFill>
                <a:latin typeface="Calibri"/>
                <a:ea typeface="Calibri"/>
                <a:cs typeface="Calibri"/>
                <a:sym typeface="Calibri"/>
              </a:endParaRPr>
            </a:p>
            <a:p>
              <a:pPr indent="0" lvl="0" marL="0" marR="0" rtl="0" algn="ctr">
                <a:lnSpc>
                  <a:spcPct val="90000"/>
                </a:lnSpc>
                <a:spcBef>
                  <a:spcPts val="420"/>
                </a:spcBef>
                <a:spcAft>
                  <a:spcPts val="0"/>
                </a:spcAft>
                <a:buClr>
                  <a:schemeClr val="lt1"/>
                </a:buClr>
                <a:buSzPts val="1600"/>
                <a:buFont typeface="Calibri"/>
                <a:buNone/>
              </a:pPr>
              <a:r>
                <a:t/>
              </a:r>
              <a:endParaRPr b="1" sz="1200">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1600">
                  <a:latin typeface="Calibri"/>
                  <a:ea typeface="Calibri"/>
                  <a:cs typeface="Calibri"/>
                  <a:sym typeface="Calibri"/>
                </a:rPr>
                <a:t>Identifiqué la importancia de documentar, validar requisitos y ajustar el proyecto según retroalimentación.</a:t>
              </a:r>
              <a:endParaRPr sz="1600">
                <a:latin typeface="Calibri"/>
                <a:ea typeface="Calibri"/>
                <a:cs typeface="Calibri"/>
                <a:sym typeface="Calibri"/>
              </a:endParaRPr>
            </a:p>
            <a:p>
              <a:pPr indent="0" lvl="0" marL="0" marR="0" rtl="0" algn="l">
                <a:lnSpc>
                  <a:spcPct val="90000"/>
                </a:lnSpc>
                <a:spcBef>
                  <a:spcPts val="1200"/>
                </a:spcBef>
                <a:spcAft>
                  <a:spcPts val="0"/>
                </a:spcAft>
                <a:buClr>
                  <a:schemeClr val="lt1"/>
                </a:buClr>
                <a:buSzPts val="1600"/>
                <a:buFont typeface="Calibri"/>
                <a:buNone/>
              </a:pPr>
              <a:r>
                <a:t/>
              </a:r>
              <a:endParaRPr sz="1600">
                <a:latin typeface="Calibri"/>
                <a:ea typeface="Calibri"/>
                <a:cs typeface="Calibri"/>
                <a:sym typeface="Calibri"/>
              </a:endParaRPr>
            </a:p>
          </p:txBody>
        </p:sp>
        <p:sp>
          <p:nvSpPr>
            <p:cNvPr id="321" name="Google Shape;321;p19"/>
            <p:cNvSpPr/>
            <p:nvPr/>
          </p:nvSpPr>
          <p:spPr>
            <a:xfrm rot="10800000">
              <a:off x="0" y="1969362"/>
              <a:ext cx="5489804" cy="1969362"/>
            </a:xfrm>
            <a:prstGeom prst="round1Rect">
              <a:avLst>
                <a:gd fmla="val 16667" name="adj"/>
              </a:avLst>
            </a:prstGeom>
            <a:gradFill>
              <a:gsLst>
                <a:gs pos="0">
                  <a:schemeClr val="lt1"/>
                </a:gs>
                <a:gs pos="50000">
                  <a:schemeClr val="lt1"/>
                </a:gs>
                <a:gs pos="100000">
                  <a:srgbClr val="E1E1E1"/>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txBox="1"/>
            <p:nvPr/>
          </p:nvSpPr>
          <p:spPr>
            <a:xfrm>
              <a:off x="0" y="2461703"/>
              <a:ext cx="5489804" cy="1477021"/>
            </a:xfrm>
            <a:prstGeom prst="rect">
              <a:avLst/>
            </a:prstGeom>
            <a:noFill/>
            <a:ln>
              <a:noFill/>
            </a:ln>
          </p:spPr>
          <p:txBody>
            <a:bodyPr anchorCtr="0" anchor="ctr" bIns="113775" lIns="113775" spcFirstLastPara="1" rIns="113775" wrap="square" tIns="113775">
              <a:noAutofit/>
            </a:bodyPr>
            <a:lstStyle/>
            <a:p>
              <a:pPr indent="0" lvl="0" marL="0" marR="0" rtl="0" algn="ctr">
                <a:lnSpc>
                  <a:spcPct val="90000"/>
                </a:lnSpc>
                <a:spcBef>
                  <a:spcPts val="0"/>
                </a:spcBef>
                <a:spcAft>
                  <a:spcPts val="0"/>
                </a:spcAft>
                <a:buClr>
                  <a:schemeClr val="lt1"/>
                </a:buClr>
                <a:buSzPts val="1600"/>
                <a:buFont typeface="Calibri"/>
                <a:buNone/>
              </a:pPr>
              <a:r>
                <a:rPr b="1" lang="en-US" sz="1600">
                  <a:solidFill>
                    <a:schemeClr val="dk1"/>
                  </a:solidFill>
                  <a:latin typeface="Calibri"/>
                  <a:ea typeface="Calibri"/>
                  <a:cs typeface="Calibri"/>
                  <a:sym typeface="Calibri"/>
                </a:rPr>
                <a:t>Obstáculos</a:t>
              </a:r>
              <a:endParaRPr b="1" sz="1500">
                <a:solidFill>
                  <a:schemeClr val="dk1"/>
                </a:solidFill>
                <a:latin typeface="Calibri"/>
                <a:ea typeface="Calibri"/>
                <a:cs typeface="Calibri"/>
                <a:sym typeface="Calibri"/>
              </a:endParaRPr>
            </a:p>
            <a:p>
              <a:pPr indent="0" lvl="0" marL="0" marR="0" rtl="0" algn="l">
                <a:lnSpc>
                  <a:spcPct val="90000"/>
                </a:lnSpc>
                <a:spcBef>
                  <a:spcPts val="560"/>
                </a:spcBef>
                <a:spcAft>
                  <a:spcPts val="0"/>
                </a:spcAft>
                <a:buClr>
                  <a:schemeClr val="lt1"/>
                </a:buClr>
                <a:buSzPts val="1600"/>
                <a:buFont typeface="Calibri"/>
                <a:buNone/>
              </a:pPr>
              <a:r>
                <a:rPr lang="en-US" sz="1600">
                  <a:solidFill>
                    <a:schemeClr val="dk1"/>
                  </a:solidFill>
                  <a:latin typeface="Calibri"/>
                  <a:ea typeface="Calibri"/>
                  <a:cs typeface="Calibri"/>
                  <a:sym typeface="Calibri"/>
                </a:rPr>
                <a:t>El principal obstáculo fue tiempo necesario para integrar funcionalidades e integraciones y la poca experiencia en proyectos reales.</a:t>
              </a:r>
              <a:endParaRPr sz="1600">
                <a:solidFill>
                  <a:schemeClr val="dk1"/>
                </a:solidFill>
                <a:latin typeface="Calibri"/>
                <a:ea typeface="Calibri"/>
                <a:cs typeface="Calibri"/>
                <a:sym typeface="Calibri"/>
              </a:endParaRPr>
            </a:p>
          </p:txBody>
        </p:sp>
        <p:sp>
          <p:nvSpPr>
            <p:cNvPr id="323" name="Google Shape;323;p19"/>
            <p:cNvSpPr/>
            <p:nvPr/>
          </p:nvSpPr>
          <p:spPr>
            <a:xfrm rot="5400000">
              <a:off x="7250024" y="209141"/>
              <a:ext cx="1969362" cy="5489804"/>
            </a:xfrm>
            <a:prstGeom prst="round1Rect">
              <a:avLst>
                <a:gd fmla="val 16667" name="adj"/>
              </a:avLst>
            </a:prstGeom>
            <a:gradFill>
              <a:gsLst>
                <a:gs pos="0">
                  <a:schemeClr val="lt1"/>
                </a:gs>
                <a:gs pos="50000">
                  <a:schemeClr val="lt1"/>
                </a:gs>
                <a:gs pos="100000">
                  <a:srgbClr val="E1E1E1"/>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txBox="1"/>
            <p:nvPr/>
          </p:nvSpPr>
          <p:spPr>
            <a:xfrm>
              <a:off x="5489804" y="2461703"/>
              <a:ext cx="5489804" cy="1477021"/>
            </a:xfrm>
            <a:prstGeom prst="rect">
              <a:avLst/>
            </a:prstGeom>
            <a:noFill/>
            <a:ln>
              <a:noFill/>
            </a:ln>
          </p:spPr>
          <p:txBody>
            <a:bodyPr anchorCtr="0" anchor="ctr" bIns="113775" lIns="113775" spcFirstLastPara="1" rIns="113775" wrap="square" tIns="113775">
              <a:noAutofit/>
            </a:bodyPr>
            <a:lstStyle/>
            <a:p>
              <a:pPr indent="0" lvl="0" marL="0" marR="0" rtl="0" algn="ctr">
                <a:lnSpc>
                  <a:spcPct val="90000"/>
                </a:lnSpc>
                <a:spcBef>
                  <a:spcPts val="0"/>
                </a:spcBef>
                <a:spcAft>
                  <a:spcPts val="0"/>
                </a:spcAft>
                <a:buClr>
                  <a:schemeClr val="lt1"/>
                </a:buClr>
                <a:buSzPts val="1600"/>
                <a:buFont typeface="Calibri"/>
                <a:buNone/>
              </a:pPr>
              <a:r>
                <a:rPr b="1" lang="en-US" sz="1600">
                  <a:solidFill>
                    <a:srgbClr val="252525"/>
                  </a:solidFill>
                  <a:latin typeface="Calibri"/>
                  <a:ea typeface="Calibri"/>
                  <a:cs typeface="Calibri"/>
                  <a:sym typeface="Calibri"/>
                </a:rPr>
                <a:t>Aporte</a:t>
              </a:r>
              <a:endParaRPr b="1" sz="1500">
                <a:solidFill>
                  <a:srgbClr val="252525"/>
                </a:solidFill>
                <a:latin typeface="Calibri"/>
                <a:ea typeface="Calibri"/>
                <a:cs typeface="Calibri"/>
                <a:sym typeface="Calibri"/>
              </a:endParaRPr>
            </a:p>
            <a:p>
              <a:pPr indent="0" lvl="0" marL="0" marR="0" rtl="0" algn="l">
                <a:lnSpc>
                  <a:spcPct val="90000"/>
                </a:lnSpc>
                <a:spcBef>
                  <a:spcPts val="560"/>
                </a:spcBef>
                <a:spcAft>
                  <a:spcPts val="0"/>
                </a:spcAft>
                <a:buClr>
                  <a:schemeClr val="lt1"/>
                </a:buClr>
                <a:buSzPts val="1500"/>
                <a:buFont typeface="Calibri"/>
                <a:buNone/>
              </a:pPr>
              <a:r>
                <a:rPr lang="en-US" sz="1500">
                  <a:solidFill>
                    <a:schemeClr val="dk1"/>
                  </a:solidFill>
                  <a:latin typeface="Calibri"/>
                  <a:ea typeface="Calibri"/>
                  <a:cs typeface="Calibri"/>
                  <a:sym typeface="Calibri"/>
                </a:rPr>
                <a:t>El proyecto mejoró la gestión de citas y la comunicación en la clínica, brindando una solución digital eficiente y moderna, a la vez que me permitió aplicar metodologías ágiles.</a:t>
              </a:r>
              <a:endParaRPr sz="1500">
                <a:solidFill>
                  <a:schemeClr val="dk1"/>
                </a:solidFill>
                <a:latin typeface="Calibri"/>
                <a:ea typeface="Calibri"/>
                <a:cs typeface="Calibri"/>
                <a:sym typeface="Calibri"/>
              </a:endParaRPr>
            </a:p>
          </p:txBody>
        </p:sp>
        <p:sp>
          <p:nvSpPr>
            <p:cNvPr id="325" name="Google Shape;325;p19"/>
            <p:cNvSpPr/>
            <p:nvPr/>
          </p:nvSpPr>
          <p:spPr>
            <a:xfrm>
              <a:off x="3842862" y="1477021"/>
              <a:ext cx="3293882" cy="984681"/>
            </a:xfrm>
            <a:prstGeom prst="roundRect">
              <a:avLst>
                <a:gd fmla="val 16667" name="adj"/>
              </a:avLst>
            </a:prstGeom>
            <a:gradFill>
              <a:gsLst>
                <a:gs pos="0">
                  <a:srgbClr val="FEE0B3"/>
                </a:gs>
                <a:gs pos="50000">
                  <a:srgbClr val="FFDBA2"/>
                </a:gs>
                <a:gs pos="100000">
                  <a:srgbClr val="E3C287"/>
                </a:gs>
              </a:gsLst>
              <a:lin ang="5400000" scaled="0"/>
            </a:gra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txBox="1"/>
            <p:nvPr/>
          </p:nvSpPr>
          <p:spPr>
            <a:xfrm>
              <a:off x="3890930" y="1525089"/>
              <a:ext cx="3197746" cy="888545"/>
            </a:xfrm>
            <a:prstGeom prst="rect">
              <a:avLst/>
            </a:prstGeom>
            <a:noFill/>
            <a:ln>
              <a:noFill/>
            </a:ln>
          </p:spPr>
          <p:txBody>
            <a:bodyPr anchorCtr="0" anchor="ctr" bIns="156200" lIns="156200" spcFirstLastPara="1" rIns="156200" wrap="square" tIns="156200">
              <a:noAutofit/>
            </a:bodyPr>
            <a:lstStyle/>
            <a:p>
              <a:pPr indent="0" lvl="0" marL="0" marR="0" rtl="0" algn="ctr">
                <a:lnSpc>
                  <a:spcPct val="90000"/>
                </a:lnSpc>
                <a:spcBef>
                  <a:spcPts val="0"/>
                </a:spcBef>
                <a:spcAft>
                  <a:spcPts val="0"/>
                </a:spcAft>
                <a:buClr>
                  <a:schemeClr val="dk1"/>
                </a:buClr>
                <a:buSzPts val="4100"/>
                <a:buFont typeface="Calibri"/>
                <a:buNone/>
              </a:pPr>
              <a:r>
                <a:rPr lang="en-US" sz="4100">
                  <a:solidFill>
                    <a:schemeClr val="dk1"/>
                  </a:solidFill>
                  <a:latin typeface="Calibri"/>
                  <a:ea typeface="Calibri"/>
                  <a:cs typeface="Calibri"/>
                  <a:sym typeface="Calibri"/>
                </a:rPr>
                <a:t>Reflexión</a:t>
              </a:r>
              <a:endParaRPr sz="4100">
                <a:solidFill>
                  <a:schemeClr val="dk1"/>
                </a:solidFill>
                <a:latin typeface="Calibri"/>
                <a:ea typeface="Calibri"/>
                <a:cs typeface="Calibri"/>
                <a:sym typeface="Calibri"/>
              </a:endParaRPr>
            </a:p>
          </p:txBody>
        </p:sp>
      </p:grpSp>
    </p:spTree>
  </p:cSld>
  <p:clrMapOvr>
    <a:masterClrMapping/>
  </p:clrMapOvr>
  <p:transition spd="slow">
    <p:wipe dir="l"/>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EscuelaIT Duoc UC - Escuela de Informática y Telecomunicaciones Duoc UC - Duoc  UC | LinkedIn" id="331" name="Google Shape;331;p2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32" name="Google Shape;332;p20"/>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chemeClr val="dk1"/>
                </a:solidFill>
                <a:latin typeface="Calibri"/>
                <a:ea typeface="Calibri"/>
                <a:cs typeface="Calibri"/>
                <a:sym typeface="Calibri"/>
              </a:rPr>
              <a:t>PREGUNTAS DE LA COMISIÓN</a:t>
            </a:r>
            <a:endParaRPr/>
          </a:p>
        </p:txBody>
      </p:sp>
      <p:sp>
        <p:nvSpPr>
          <p:cNvPr id="333" name="Google Shape;333;p20"/>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PROYECTO “SISTEMA WEB CLINICA VETERINARIA PUCARA DE SAN BERNARDO”</a:t>
            </a:r>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0x01010015ED6F46882F47419E8EA90B7B52D56C</vt:lpwstr>
  </property>
  <property fmtid="{D5CDD505-2E9C-101B-9397-08002B2CF9AE}" pid="3" name="MediaServiceImageTags">
    <vt:lpwstr/>
  </property>
</Properties>
</file>